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League Spartan" charset="1" panose="00000800000000000000"/>
      <p:regular r:id="rId36"/>
    </p:embeddedFont>
    <p:embeddedFont>
      <p:font typeface="Canva Sans" charset="1" panose="020B0503030501040103"/>
      <p:regular r:id="rId37"/>
    </p:embeddedFont>
    <p:embeddedFont>
      <p:font typeface="Canva Sans Bold Italics" charset="1" panose="020B0803030501040103"/>
      <p:regular r:id="rId38"/>
    </p:embeddedFont>
    <p:embeddedFont>
      <p:font typeface="Canva Sans Bold" charset="1" panose="020B0803030501040103"/>
      <p:regular r:id="rId39"/>
    </p:embeddedFont>
    <p:embeddedFont>
      <p:font typeface="Canva Sans Italics" charset="1" panose="020B0503030501040103"/>
      <p:regular r:id="rId40"/>
    </p:embeddedFont>
    <p:embeddedFont>
      <p:font typeface="Anek Bangla SemiExpanded Bold" charset="1" panose="00000000000000000000"/>
      <p:regular r:id="rId41"/>
    </p:embeddedFont>
    <p:embeddedFont>
      <p:font typeface="Anek Bangla SemiExpanded" charset="1" panose="00000000000000000000"/>
      <p:regular r:id="rId42"/>
    </p:embeddedFont>
    <p:embeddedFont>
      <p:font typeface="Open Sans Bold" charset="1" panose="020B0806030504020204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Relationship Id="rId8" Target="../media/image14.jpe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embeddings/oleObject4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embeddings/oleObject5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embeddings/oleObject6.bin" Type="http://schemas.openxmlformats.org/officeDocument/2006/relationships/oleObjec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embeddings/oleObject7.bin" Type="http://schemas.openxmlformats.org/officeDocument/2006/relationships/oleObject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embeddings/oleObject8.bin" Type="http://schemas.openxmlformats.org/officeDocument/2006/relationships/oleObject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embeddings/oleObject9.bin" Type="http://schemas.openxmlformats.org/officeDocument/2006/relationships/oleObjec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embeddings/oleObject10.bin" Type="http://schemas.openxmlformats.org/officeDocument/2006/relationships/oleObject"/><Relationship Id="rId4" Target="../media/image4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embeddings/oleObject11.bin" Type="http://schemas.openxmlformats.org/officeDocument/2006/relationships/oleObjec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embeddings/oleObject12.bin" Type="http://schemas.openxmlformats.org/officeDocument/2006/relationships/oleObjec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41658" y="4021527"/>
            <a:ext cx="9217642" cy="5236773"/>
          </a:xfrm>
          <a:custGeom>
            <a:avLst/>
            <a:gdLst/>
            <a:ahLst/>
            <a:cxnLst/>
            <a:rect r="r" b="b" t="t" l="l"/>
            <a:pathLst>
              <a:path h="5236773" w="9217642">
                <a:moveTo>
                  <a:pt x="0" y="0"/>
                </a:moveTo>
                <a:lnTo>
                  <a:pt x="9217642" y="0"/>
                </a:lnTo>
                <a:lnTo>
                  <a:pt x="9217642" y="5236773"/>
                </a:lnTo>
                <a:lnTo>
                  <a:pt x="0" y="5236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21412" y="-349162"/>
            <a:ext cx="7060492" cy="8229600"/>
          </a:xfrm>
          <a:custGeom>
            <a:avLst/>
            <a:gdLst/>
            <a:ahLst/>
            <a:cxnLst/>
            <a:rect r="r" b="b" t="t" l="l"/>
            <a:pathLst>
              <a:path h="8229600" w="7060492">
                <a:moveTo>
                  <a:pt x="0" y="0"/>
                </a:moveTo>
                <a:lnTo>
                  <a:pt x="7060493" y="0"/>
                </a:lnTo>
                <a:lnTo>
                  <a:pt x="70604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</a:blip>
            <a:stretch>
              <a:fillRect l="-5948" t="0" r="-594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71585" y="904875"/>
            <a:ext cx="15944829" cy="2192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8"/>
              </a:lnSpc>
            </a:pPr>
            <a:r>
              <a:rPr lang="en-US" sz="6298">
                <a:solidFill>
                  <a:srgbClr val="C9036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BEHIND THE IRIS: </a:t>
            </a:r>
          </a:p>
          <a:p>
            <a:pPr algn="ctr">
              <a:lnSpc>
                <a:spcPts val="8818"/>
              </a:lnSpc>
              <a:spcBef>
                <a:spcPct val="0"/>
              </a:spcBef>
            </a:pPr>
            <a:r>
              <a:rPr lang="en-US" sz="6298">
                <a:solidFill>
                  <a:srgbClr val="C9036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Biometric Recognition in</a:t>
            </a:r>
            <a:r>
              <a:rPr lang="en-US" sz="6298">
                <a:solidFill>
                  <a:srgbClr val="C9036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Twin Subjects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129384"/>
            <a:ext cx="5757458" cy="112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Sarah Oualli </a:t>
            </a:r>
          </a:p>
          <a:p>
            <a:pPr algn="l">
              <a:lnSpc>
                <a:spcPts val="3004"/>
              </a:lnSpc>
            </a:pPr>
            <a:r>
              <a:rPr lang="en-US" sz="21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Michele Pogu</a:t>
            </a:r>
          </a:p>
          <a:p>
            <a:pPr algn="l">
              <a:lnSpc>
                <a:spcPts val="3004"/>
              </a:lnSpc>
              <a:spcBef>
                <a:spcPct val="0"/>
              </a:spcBef>
            </a:pPr>
            <a:r>
              <a:rPr lang="en-US" sz="214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Gaia Diodati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601814"/>
            <a:ext cx="6561680" cy="1278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4"/>
              </a:lnSpc>
            </a:pPr>
            <a:r>
              <a:rPr lang="en-US" b="true" sz="2446" i="true">
                <a:solidFill>
                  <a:srgbClr val="A5A5A4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Master’s Degree in Cybersecurity </a:t>
            </a:r>
          </a:p>
          <a:p>
            <a:pPr algn="l">
              <a:lnSpc>
                <a:spcPts val="3424"/>
              </a:lnSpc>
            </a:pPr>
            <a:r>
              <a:rPr lang="en-US" b="true" sz="2446" i="true">
                <a:solidFill>
                  <a:srgbClr val="A5A5A4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Biometric Systems </a:t>
            </a:r>
          </a:p>
          <a:p>
            <a:pPr algn="l">
              <a:lnSpc>
                <a:spcPts val="342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5184" y="933450"/>
            <a:ext cx="14337631" cy="880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5"/>
              </a:lnSpc>
            </a:pPr>
            <a:r>
              <a:rPr lang="en-US" b="true" sz="51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Biometric Paradox: Epigenetics vs. Twins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9942" y="2866390"/>
            <a:ext cx="16868117" cy="639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Epigenetic Premise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Iris texture is rich, stable, and formed randomly during gestation. Classical systems assume this epigenetic randomness provides highly discriminative information, unaffected by DNA.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 marL="561337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Twin Problem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Twins share identical genetic information and physical traits.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 marL="561337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Related Evidence:</a:t>
            </a:r>
          </a:p>
          <a:p>
            <a:pPr algn="l" marL="1122675" indent="-374225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sz="25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Hollingsworth et al.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showed human observers perceive visual similarity in genetically identical irises. </a:t>
            </a:r>
          </a:p>
          <a:p>
            <a:pPr algn="l" marL="1122675" indent="-374225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sz="25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Juniati et al.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demonstrated that increasing the proportion of twins in a dataset reduces overall recognition accuracy. 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Focus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59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If humans see similarity, does a classical biometric pipeline detect it?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7154" y="1362075"/>
            <a:ext cx="15253692" cy="127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Questions &amp;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26173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27097" y="3309644"/>
            <a:ext cx="15033806" cy="570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257" indent="-291629" lvl="1">
              <a:lnSpc>
                <a:spcPts val="3782"/>
              </a:lnSpc>
              <a:buFont typeface="Arial"/>
              <a:buChar char="•"/>
            </a:pPr>
            <a:r>
              <a:rPr lang="en-US" b="true" sz="270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Impostor Behavior</a:t>
            </a:r>
            <a:r>
              <a:rPr lang="en-US" sz="27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701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Are twin comparisons (especially same-eye) inherently more similar than unrelated impostor comparisons? </a:t>
            </a:r>
          </a:p>
          <a:p>
            <a:pPr algn="l">
              <a:lnSpc>
                <a:spcPts val="3782"/>
              </a:lnSpc>
            </a:pPr>
          </a:p>
          <a:p>
            <a:pPr algn="l" marL="583257" indent="-291629" lvl="1">
              <a:lnSpc>
                <a:spcPts val="3782"/>
              </a:lnSpc>
              <a:buFont typeface="Arial"/>
              <a:buChar char="•"/>
            </a:pPr>
            <a:r>
              <a:rPr lang="en-US" b="true" sz="270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Identification Impact</a:t>
            </a:r>
            <a:r>
              <a:rPr lang="en-US" sz="27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701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Are twins the primary cause of errors in a closed-set identification scenario? </a:t>
            </a:r>
          </a:p>
          <a:p>
            <a:pPr algn="l">
              <a:lnSpc>
                <a:spcPts val="3782"/>
              </a:lnSpc>
            </a:pPr>
          </a:p>
          <a:p>
            <a:pPr algn="l" marL="583257" indent="-291629" lvl="1">
              <a:lnSpc>
                <a:spcPts val="3782"/>
              </a:lnSpc>
              <a:buFont typeface="Arial"/>
              <a:buChar char="•"/>
            </a:pPr>
            <a:r>
              <a:rPr lang="en-US" b="true" sz="270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Texture Validation</a:t>
            </a:r>
            <a:r>
              <a:rPr lang="en-US" sz="27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701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Does this "Twin Effect" persist across alternative texture descriptors? </a:t>
            </a:r>
          </a:p>
          <a:p>
            <a:pPr algn="l">
              <a:lnSpc>
                <a:spcPts val="3782"/>
              </a:lnSpc>
            </a:pPr>
          </a:p>
          <a:p>
            <a:pPr algn="l" marL="583257" indent="-291629" lvl="1">
              <a:lnSpc>
                <a:spcPts val="3782"/>
              </a:lnSpc>
              <a:buFont typeface="Arial"/>
              <a:buChar char="•"/>
            </a:pPr>
            <a:r>
              <a:rPr lang="en-US" b="true" sz="270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Failure Analysis</a:t>
            </a:r>
            <a:r>
              <a:rPr lang="en-US" sz="270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701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When the system fails, why does it fail? Is it due to genetic ambiguity, or limitations in template quality and segmentation?</a:t>
            </a:r>
          </a:p>
          <a:p>
            <a:pPr algn="l">
              <a:lnSpc>
                <a:spcPts val="378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66454" y="885825"/>
            <a:ext cx="13364617" cy="127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7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CASIA-Iris-Twins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12917"/>
            <a:ext cx="2715832" cy="634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376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Initial audit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35857"/>
            <a:ext cx="6286623" cy="3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</a:pPr>
            <a:r>
              <a:rPr lang="en-US" sz="220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3183 raw images across 100 families.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16982" y="2523572"/>
            <a:ext cx="5872407" cy="687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  <a:spcBef>
                <a:spcPct val="0"/>
              </a:spcBef>
            </a:pPr>
            <a:r>
              <a:rPr lang="en-US" sz="21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📁 </a:t>
            </a:r>
            <a:r>
              <a:rPr lang="en-US" b="true" sz="21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CASIA-Iris-Twins Dataset [100 Families]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├── 📁 </a:t>
            </a:r>
            <a:r>
              <a:rPr lang="en-US" b="true" sz="19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Family_01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├── 📁 </a:t>
            </a:r>
            <a:r>
              <a:rPr lang="en-US" b="true" sz="19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Twin_1 (subject_id)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   ├── 📁 </a:t>
            </a:r>
            <a:r>
              <a:rPr lang="en-US" b="true" sz="19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Left_Eye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➔ (</a:t>
            </a:r>
            <a:r>
              <a:rPr lang="en-US" sz="1940">
                <a:solidFill>
                  <a:srgbClr val="BB2DBD"/>
                </a:solidFill>
                <a:latin typeface="Canva Sans"/>
                <a:ea typeface="Canva Sans"/>
                <a:cs typeface="Canva Sans"/>
                <a:sym typeface="Canva Sans"/>
              </a:rPr>
              <a:t>iris_id: 01_1L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   │   ├── 📄 S3011L01.jpg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   │   └── 📄 S3011L02.jpg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   │   └── 📄 ...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   │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   └── 📁 </a:t>
            </a:r>
            <a:r>
              <a:rPr lang="en-US" b="true" sz="19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Right_Eye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➔ (</a:t>
            </a:r>
            <a:r>
              <a:rPr lang="en-US" sz="1940">
                <a:solidFill>
                  <a:srgbClr val="BB2DBD"/>
                </a:solidFill>
                <a:latin typeface="Canva Sans"/>
                <a:ea typeface="Canva Sans"/>
                <a:cs typeface="Canva Sans"/>
                <a:sym typeface="Canva Sans"/>
              </a:rPr>
              <a:t>iris_id: 01_1R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       ├── 📄 S3011R01.jpg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       └── 📄 S3011R02.jpg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       └── 📄 ...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│ 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└── 📁 </a:t>
            </a:r>
            <a:r>
              <a:rPr lang="en-US" b="true" sz="19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Twin_2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(subject_id)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    ├── 📁 </a:t>
            </a:r>
            <a:r>
              <a:rPr lang="en-US" b="true" sz="19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Left_Eye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➔ (</a:t>
            </a:r>
            <a:r>
              <a:rPr lang="en-US" sz="1940">
                <a:solidFill>
                  <a:srgbClr val="BB2DBD"/>
                </a:solidFill>
                <a:latin typeface="Canva Sans"/>
                <a:ea typeface="Canva Sans"/>
                <a:cs typeface="Canva Sans"/>
                <a:sym typeface="Canva Sans"/>
              </a:rPr>
              <a:t>iris_id: 01_2L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       └── 📁</a:t>
            </a:r>
            <a:r>
              <a:rPr lang="en-US" b="true" sz="19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Right_Eye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➔ (i</a:t>
            </a:r>
            <a:r>
              <a:rPr lang="en-US" sz="1940">
                <a:solidFill>
                  <a:srgbClr val="BB2DBD"/>
                </a:solidFill>
                <a:latin typeface="Canva Sans"/>
                <a:ea typeface="Canva Sans"/>
                <a:cs typeface="Canva Sans"/>
                <a:sym typeface="Canva Sans"/>
              </a:rPr>
              <a:t>ris_id: 01_2R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│</a:t>
            </a:r>
          </a:p>
          <a:p>
            <a:pPr algn="l">
              <a:lnSpc>
                <a:spcPts val="2717"/>
              </a:lnSpc>
              <a:spcBef>
                <a:spcPct val="0"/>
              </a:spcBef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└── 📁 Family_02 ...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23478"/>
            <a:ext cx="8278193" cy="5016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3299" indent="-256650" lvl="1">
              <a:lnSpc>
                <a:spcPts val="3328"/>
              </a:lnSpc>
              <a:buFont typeface="Arial"/>
              <a:buChar char="•"/>
            </a:pPr>
            <a:r>
              <a:rPr lang="en-US" b="true" sz="237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Cleaning</a:t>
            </a: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2 exact duplicates removed to prevent artificially perfect genuine comparisons</a:t>
            </a:r>
          </a:p>
          <a:p>
            <a:pPr algn="l">
              <a:lnSpc>
                <a:spcPts val="3328"/>
              </a:lnSpc>
            </a:pP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-&gt; 3181 clean images. </a:t>
            </a:r>
          </a:p>
          <a:p>
            <a:pPr algn="l">
              <a:lnSpc>
                <a:spcPts val="3328"/>
              </a:lnSpc>
            </a:pPr>
          </a:p>
          <a:p>
            <a:pPr algn="l" marL="513299" indent="-256650" lvl="1">
              <a:lnSpc>
                <a:spcPts val="3328"/>
              </a:lnSpc>
              <a:buFont typeface="Arial"/>
              <a:buChar char="•"/>
            </a:pPr>
            <a:r>
              <a:rPr lang="en-US" b="true" sz="237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Metadata Hierarchy</a:t>
            </a: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Every image is strictly labeled by </a:t>
            </a:r>
            <a:r>
              <a:rPr lang="en-US" sz="237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family_id</a:t>
            </a: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37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twin_id, eye</a:t>
            </a: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(left/right), </a:t>
            </a:r>
            <a:r>
              <a:rPr lang="en-US" sz="237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subject_id</a:t>
            </a: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and </a:t>
            </a:r>
            <a:r>
              <a:rPr lang="en-US" sz="2377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iris_id</a:t>
            </a: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algn="l">
              <a:lnSpc>
                <a:spcPts val="3328"/>
              </a:lnSpc>
            </a:pPr>
          </a:p>
          <a:p>
            <a:pPr algn="l" marL="513299" indent="-256650" lvl="1">
              <a:lnSpc>
                <a:spcPts val="3328"/>
              </a:lnSpc>
              <a:buFont typeface="Arial"/>
              <a:buChar char="•"/>
            </a:pPr>
            <a:r>
              <a:rPr lang="en-US" b="true" sz="237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Biometric Trait</a:t>
            </a: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left and right irises of the same subject are treated as distinct biometric identities (</a:t>
            </a:r>
            <a:r>
              <a:rPr lang="en-US" b="true" sz="2377" i="true">
                <a:solidFill>
                  <a:srgbClr val="BB2DBD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iris_id</a:t>
            </a: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). </a:t>
            </a:r>
          </a:p>
          <a:p>
            <a:pPr algn="l">
              <a:lnSpc>
                <a:spcPts val="332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3584" y="1224971"/>
            <a:ext cx="14780832" cy="1339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51"/>
              </a:lnSpc>
            </a:pPr>
            <a:r>
              <a:rPr lang="en-US" sz="789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Modular Pipeline </a:t>
            </a:r>
            <a:r>
              <a:rPr lang="en-US" b="true" sz="789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  <p:sp>
        <p:nvSpPr>
          <p:cNvPr name="Freeform 4" id="4"/>
          <p:cNvSpPr/>
          <p:nvPr/>
        </p:nvSpPr>
        <p:spPr>
          <a:xfrm>
            <a:off x="3443343" y="4159808"/>
            <a:ext cx="1665888" cy="3066550"/>
          </a:xfrm>
          <a:custGeom>
            <a:avLst/>
            <a:gdLst/>
            <a:ahLst/>
            <a:cxnLst/>
            <a:rect r="r" b="b" t="t" l="l"/>
            <a:pathLst>
              <a:path h="3066550" w="1665888">
                <a:moveTo>
                  <a:pt x="0" y="0"/>
                </a:moveTo>
                <a:lnTo>
                  <a:pt x="125685" y="0"/>
                </a:lnTo>
                <a:cubicBezTo>
                  <a:pt x="195099" y="0"/>
                  <a:pt x="251370" y="56271"/>
                  <a:pt x="251370" y="125686"/>
                </a:cubicBezTo>
                <a:lnTo>
                  <a:pt x="251370" y="1002099"/>
                </a:lnTo>
                <a:cubicBezTo>
                  <a:pt x="251370" y="1071675"/>
                  <a:pt x="279009" y="1138401"/>
                  <a:pt x="328206" y="1187599"/>
                </a:cubicBezTo>
                <a:cubicBezTo>
                  <a:pt x="377404" y="1236796"/>
                  <a:pt x="444130" y="1264435"/>
                  <a:pt x="513706" y="1264435"/>
                </a:cubicBezTo>
                <a:lnTo>
                  <a:pt x="513706" y="1264435"/>
                </a:lnTo>
                <a:cubicBezTo>
                  <a:pt x="658590" y="1264435"/>
                  <a:pt x="776042" y="1381887"/>
                  <a:pt x="776042" y="1526772"/>
                </a:cubicBezTo>
                <a:lnTo>
                  <a:pt x="776042" y="2621628"/>
                </a:lnTo>
                <a:cubicBezTo>
                  <a:pt x="776042" y="2867352"/>
                  <a:pt x="975241" y="3066551"/>
                  <a:pt x="1220965" y="3066551"/>
                </a:cubicBezTo>
                <a:lnTo>
                  <a:pt x="1665887" y="3066551"/>
                </a:lnTo>
              </a:path>
            </a:pathLst>
          </a:custGeom>
          <a:ln cap="rnd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6319893" y="4255691"/>
            <a:ext cx="1842610" cy="3042106"/>
          </a:xfrm>
          <a:custGeom>
            <a:avLst/>
            <a:gdLst/>
            <a:ahLst/>
            <a:cxnLst/>
            <a:rect r="r" b="b" t="t" l="l"/>
            <a:pathLst>
              <a:path h="3042106" w="1842610">
                <a:moveTo>
                  <a:pt x="1842610" y="0"/>
                </a:moveTo>
                <a:lnTo>
                  <a:pt x="1735213" y="0"/>
                </a:lnTo>
                <a:cubicBezTo>
                  <a:pt x="1706729" y="0"/>
                  <a:pt x="1679413" y="11314"/>
                  <a:pt x="1659272" y="31455"/>
                </a:cubicBezTo>
                <a:cubicBezTo>
                  <a:pt x="1639131" y="51596"/>
                  <a:pt x="1627816" y="78913"/>
                  <a:pt x="1627816" y="107396"/>
                </a:cubicBezTo>
                <a:lnTo>
                  <a:pt x="1627816" y="847135"/>
                </a:lnTo>
                <a:cubicBezTo>
                  <a:pt x="1627816" y="932380"/>
                  <a:pt x="1593953" y="1014134"/>
                  <a:pt x="1533676" y="1074412"/>
                </a:cubicBezTo>
                <a:cubicBezTo>
                  <a:pt x="1473398" y="1134689"/>
                  <a:pt x="1391644" y="1168552"/>
                  <a:pt x="1306400" y="1168552"/>
                </a:cubicBezTo>
                <a:lnTo>
                  <a:pt x="1306400" y="1168552"/>
                </a:lnTo>
                <a:cubicBezTo>
                  <a:pt x="1221154" y="1168552"/>
                  <a:pt x="1139401" y="1202416"/>
                  <a:pt x="1079123" y="1262693"/>
                </a:cubicBezTo>
                <a:cubicBezTo>
                  <a:pt x="1018846" y="1322971"/>
                  <a:pt x="984982" y="1404724"/>
                  <a:pt x="984982" y="1489970"/>
                </a:cubicBezTo>
                <a:lnTo>
                  <a:pt x="984982" y="2549615"/>
                </a:lnTo>
                <a:cubicBezTo>
                  <a:pt x="984982" y="2821610"/>
                  <a:pt x="764486" y="3042105"/>
                  <a:pt x="492491" y="3042105"/>
                </a:cubicBezTo>
                <a:lnTo>
                  <a:pt x="0" y="3042105"/>
                </a:lnTo>
              </a:path>
            </a:pathLst>
          </a:custGeom>
          <a:ln cap="rnd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6999" y="5743718"/>
            <a:ext cx="2408079" cy="36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</a:pPr>
            <a:r>
              <a:rPr lang="en-US" b="true" sz="24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Quality Audit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37829" y="3384002"/>
            <a:ext cx="1805513" cy="1551613"/>
            <a:chOff x="0" y="0"/>
            <a:chExt cx="2407351" cy="206881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07351" cy="2068817"/>
              <a:chOff x="0" y="0"/>
              <a:chExt cx="812800" cy="6985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33542" y="0"/>
                <a:ext cx="745715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45715">
                    <a:moveTo>
                      <a:pt x="716723" y="456732"/>
                    </a:moveTo>
                    <a:lnTo>
                      <a:pt x="638593" y="591018"/>
                    </a:lnTo>
                    <a:cubicBezTo>
                      <a:pt x="599876" y="657563"/>
                      <a:pt x="528696" y="698500"/>
                      <a:pt x="451708" y="698500"/>
                    </a:cubicBezTo>
                    <a:lnTo>
                      <a:pt x="294008" y="698500"/>
                    </a:lnTo>
                    <a:cubicBezTo>
                      <a:pt x="217020" y="698500"/>
                      <a:pt x="145840" y="657563"/>
                      <a:pt x="107123" y="591018"/>
                    </a:cubicBezTo>
                    <a:lnTo>
                      <a:pt x="28993" y="456732"/>
                    </a:lnTo>
                    <a:cubicBezTo>
                      <a:pt x="-9664" y="390291"/>
                      <a:pt x="-9664" y="308209"/>
                      <a:pt x="28993" y="241768"/>
                    </a:cubicBezTo>
                    <a:lnTo>
                      <a:pt x="107123" y="107482"/>
                    </a:lnTo>
                    <a:cubicBezTo>
                      <a:pt x="145840" y="40937"/>
                      <a:pt x="217020" y="0"/>
                      <a:pt x="294008" y="0"/>
                    </a:cubicBezTo>
                    <a:lnTo>
                      <a:pt x="451708" y="0"/>
                    </a:lnTo>
                    <a:cubicBezTo>
                      <a:pt x="528696" y="0"/>
                      <a:pt x="599876" y="40937"/>
                      <a:pt x="638593" y="107482"/>
                    </a:cubicBezTo>
                    <a:lnTo>
                      <a:pt x="716723" y="241768"/>
                    </a:lnTo>
                    <a:cubicBezTo>
                      <a:pt x="755380" y="308209"/>
                      <a:pt x="755380" y="390291"/>
                      <a:pt x="716723" y="456732"/>
                    </a:cubicBezTo>
                    <a:close/>
                  </a:path>
                </a:pathLst>
              </a:custGeom>
              <a:solidFill>
                <a:srgbClr val="FED7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14300" y="-19050"/>
                <a:ext cx="5842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04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978757" y="606956"/>
              <a:ext cx="439786" cy="826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54"/>
                </a:lnSpc>
              </a:pPr>
              <a:r>
                <a:rPr lang="en-US" b="true" sz="4026">
                  <a:solidFill>
                    <a:srgbClr val="000000"/>
                  </a:solidFill>
                  <a:latin typeface="Anek Bangla SemiExpanded Bold"/>
                  <a:ea typeface="Anek Bangla SemiExpanded Bold"/>
                  <a:cs typeface="Anek Bangla SemiExpanded Bold"/>
                  <a:sym typeface="Anek Bangla SemiExpanded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42226" y="6450553"/>
            <a:ext cx="1805513" cy="1551613"/>
            <a:chOff x="0" y="0"/>
            <a:chExt cx="2407351" cy="206881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407351" cy="2068817"/>
              <a:chOff x="0" y="0"/>
              <a:chExt cx="812800" cy="698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33542" y="0"/>
                <a:ext cx="745715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45715">
                    <a:moveTo>
                      <a:pt x="716723" y="456732"/>
                    </a:moveTo>
                    <a:lnTo>
                      <a:pt x="638593" y="591018"/>
                    </a:lnTo>
                    <a:cubicBezTo>
                      <a:pt x="599876" y="657563"/>
                      <a:pt x="528696" y="698500"/>
                      <a:pt x="451708" y="698500"/>
                    </a:cubicBezTo>
                    <a:lnTo>
                      <a:pt x="294008" y="698500"/>
                    </a:lnTo>
                    <a:cubicBezTo>
                      <a:pt x="217020" y="698500"/>
                      <a:pt x="145840" y="657563"/>
                      <a:pt x="107123" y="591018"/>
                    </a:cubicBezTo>
                    <a:lnTo>
                      <a:pt x="28993" y="456732"/>
                    </a:lnTo>
                    <a:cubicBezTo>
                      <a:pt x="-9664" y="390291"/>
                      <a:pt x="-9664" y="308209"/>
                      <a:pt x="28993" y="241768"/>
                    </a:cubicBezTo>
                    <a:lnTo>
                      <a:pt x="107123" y="107482"/>
                    </a:lnTo>
                    <a:cubicBezTo>
                      <a:pt x="145840" y="40937"/>
                      <a:pt x="217020" y="0"/>
                      <a:pt x="294008" y="0"/>
                    </a:cubicBezTo>
                    <a:lnTo>
                      <a:pt x="451708" y="0"/>
                    </a:lnTo>
                    <a:cubicBezTo>
                      <a:pt x="528696" y="0"/>
                      <a:pt x="599876" y="40937"/>
                      <a:pt x="638593" y="107482"/>
                    </a:cubicBezTo>
                    <a:lnTo>
                      <a:pt x="716723" y="241768"/>
                    </a:lnTo>
                    <a:cubicBezTo>
                      <a:pt x="755380" y="308209"/>
                      <a:pt x="755380" y="390291"/>
                      <a:pt x="716723" y="456732"/>
                    </a:cubicBezTo>
                    <a:close/>
                  </a:path>
                </a:pathLst>
              </a:custGeom>
              <a:solidFill>
                <a:srgbClr val="FEBE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14300" y="-19050"/>
                <a:ext cx="5842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04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983782" y="606956"/>
              <a:ext cx="439786" cy="826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54"/>
                </a:lnSpc>
              </a:pPr>
              <a:r>
                <a:rPr lang="en-US" b="true" sz="4026">
                  <a:solidFill>
                    <a:srgbClr val="000000"/>
                  </a:solidFill>
                  <a:latin typeface="Anek Bangla SemiExpanded Bold"/>
                  <a:ea typeface="Anek Bangla SemiExpanded Bold"/>
                  <a:cs typeface="Anek Bangla SemiExpanded Bold"/>
                  <a:sym typeface="Anek Bangla SemiExpanded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510924" y="5553218"/>
            <a:ext cx="2668117" cy="74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</a:pPr>
            <a:r>
              <a:rPr lang="en-US" b="true" sz="24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Daugman-Style Segmentation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162503" y="3479884"/>
            <a:ext cx="1805513" cy="1551613"/>
            <a:chOff x="0" y="0"/>
            <a:chExt cx="2407351" cy="2068817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407351" cy="2068817"/>
              <a:chOff x="0" y="0"/>
              <a:chExt cx="812800" cy="698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33542" y="0"/>
                <a:ext cx="745715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45715">
                    <a:moveTo>
                      <a:pt x="716723" y="456732"/>
                    </a:moveTo>
                    <a:lnTo>
                      <a:pt x="638593" y="591018"/>
                    </a:lnTo>
                    <a:cubicBezTo>
                      <a:pt x="599876" y="657563"/>
                      <a:pt x="528696" y="698500"/>
                      <a:pt x="451708" y="698500"/>
                    </a:cubicBezTo>
                    <a:lnTo>
                      <a:pt x="294008" y="698500"/>
                    </a:lnTo>
                    <a:cubicBezTo>
                      <a:pt x="217020" y="698500"/>
                      <a:pt x="145840" y="657563"/>
                      <a:pt x="107123" y="591018"/>
                    </a:cubicBezTo>
                    <a:lnTo>
                      <a:pt x="28993" y="456732"/>
                    </a:lnTo>
                    <a:cubicBezTo>
                      <a:pt x="-9664" y="390291"/>
                      <a:pt x="-9664" y="308209"/>
                      <a:pt x="28993" y="241768"/>
                    </a:cubicBezTo>
                    <a:lnTo>
                      <a:pt x="107123" y="107482"/>
                    </a:lnTo>
                    <a:cubicBezTo>
                      <a:pt x="145840" y="40937"/>
                      <a:pt x="217020" y="0"/>
                      <a:pt x="294008" y="0"/>
                    </a:cubicBezTo>
                    <a:lnTo>
                      <a:pt x="451708" y="0"/>
                    </a:lnTo>
                    <a:cubicBezTo>
                      <a:pt x="528696" y="0"/>
                      <a:pt x="599876" y="40937"/>
                      <a:pt x="638593" y="107482"/>
                    </a:cubicBezTo>
                    <a:lnTo>
                      <a:pt x="716723" y="241768"/>
                    </a:lnTo>
                    <a:cubicBezTo>
                      <a:pt x="755380" y="308209"/>
                      <a:pt x="755380" y="390291"/>
                      <a:pt x="716723" y="456732"/>
                    </a:cubicBezTo>
                    <a:close/>
                  </a:path>
                </a:pathLst>
              </a:custGeom>
              <a:solidFill>
                <a:srgbClr val="F68FF8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14300" y="-19050"/>
                <a:ext cx="5842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04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983782" y="606956"/>
              <a:ext cx="439786" cy="826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54"/>
                </a:lnSpc>
              </a:pPr>
              <a:r>
                <a:rPr lang="en-US" b="true" sz="4026">
                  <a:solidFill>
                    <a:srgbClr val="000000"/>
                  </a:solidFill>
                  <a:latin typeface="Anek Bangla SemiExpanded Bold"/>
                  <a:ea typeface="Anek Bangla SemiExpanded Bold"/>
                  <a:cs typeface="Anek Bangla SemiExpanded Bold"/>
                  <a:sym typeface="Anek Bangla SemiExpanded Bold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921400" y="6441028"/>
            <a:ext cx="2485280" cy="74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</a:pPr>
            <a:r>
              <a:rPr lang="en-US" b="true" sz="24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Masked HD Matching</a:t>
            </a:r>
          </a:p>
        </p:txBody>
      </p:sp>
      <p:sp>
        <p:nvSpPr>
          <p:cNvPr name="Freeform 24" id="24"/>
          <p:cNvSpPr/>
          <p:nvPr/>
        </p:nvSpPr>
        <p:spPr>
          <a:xfrm>
            <a:off x="9968016" y="4255691"/>
            <a:ext cx="1495893" cy="2970668"/>
          </a:xfrm>
          <a:custGeom>
            <a:avLst/>
            <a:gdLst/>
            <a:ahLst/>
            <a:cxnLst/>
            <a:rect r="r" b="b" t="t" l="l"/>
            <a:pathLst>
              <a:path h="2970668" w="1495893">
                <a:moveTo>
                  <a:pt x="0" y="0"/>
                </a:moveTo>
                <a:lnTo>
                  <a:pt x="124190" y="0"/>
                </a:lnTo>
                <a:cubicBezTo>
                  <a:pt x="192778" y="0"/>
                  <a:pt x="248380" y="55601"/>
                  <a:pt x="248380" y="124190"/>
                </a:cubicBezTo>
                <a:lnTo>
                  <a:pt x="248380" y="906216"/>
                </a:lnTo>
                <a:cubicBezTo>
                  <a:pt x="248380" y="1051100"/>
                  <a:pt x="365832" y="1168552"/>
                  <a:pt x="510716" y="1168552"/>
                </a:cubicBezTo>
                <a:lnTo>
                  <a:pt x="510716" y="1168552"/>
                </a:lnTo>
                <a:cubicBezTo>
                  <a:pt x="655601" y="1168552"/>
                  <a:pt x="773052" y="1286004"/>
                  <a:pt x="773052" y="1430889"/>
                </a:cubicBezTo>
                <a:lnTo>
                  <a:pt x="773052" y="2609248"/>
                </a:lnTo>
                <a:cubicBezTo>
                  <a:pt x="773052" y="2705102"/>
                  <a:pt x="811131" y="2797031"/>
                  <a:pt x="878910" y="2864810"/>
                </a:cubicBezTo>
                <a:cubicBezTo>
                  <a:pt x="946689" y="2932590"/>
                  <a:pt x="1038618" y="2970668"/>
                  <a:pt x="1134473" y="2970668"/>
                </a:cubicBezTo>
                <a:lnTo>
                  <a:pt x="1495893" y="2970668"/>
                </a:lnTo>
              </a:path>
            </a:pathLst>
          </a:custGeom>
          <a:ln cap="rnd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>
            <a:off x="12841575" y="4255691"/>
            <a:ext cx="1842611" cy="3042106"/>
          </a:xfrm>
          <a:custGeom>
            <a:avLst/>
            <a:gdLst/>
            <a:ahLst/>
            <a:cxnLst/>
            <a:rect r="r" b="b" t="t" l="l"/>
            <a:pathLst>
              <a:path h="3042106" w="1842611">
                <a:moveTo>
                  <a:pt x="1842611" y="0"/>
                </a:moveTo>
                <a:lnTo>
                  <a:pt x="1735214" y="0"/>
                </a:lnTo>
                <a:cubicBezTo>
                  <a:pt x="1675902" y="0"/>
                  <a:pt x="1627818" y="48083"/>
                  <a:pt x="1627818" y="107396"/>
                </a:cubicBezTo>
                <a:lnTo>
                  <a:pt x="1627818" y="847135"/>
                </a:lnTo>
                <a:cubicBezTo>
                  <a:pt x="1627818" y="1024649"/>
                  <a:pt x="1483915" y="1168552"/>
                  <a:pt x="1306400" y="1168552"/>
                </a:cubicBezTo>
                <a:lnTo>
                  <a:pt x="1306400" y="1168552"/>
                </a:lnTo>
                <a:cubicBezTo>
                  <a:pt x="1128887" y="1168552"/>
                  <a:pt x="984983" y="1312456"/>
                  <a:pt x="984983" y="1489970"/>
                </a:cubicBezTo>
                <a:lnTo>
                  <a:pt x="984983" y="2549615"/>
                </a:lnTo>
                <a:cubicBezTo>
                  <a:pt x="984983" y="2680231"/>
                  <a:pt x="933096" y="2805498"/>
                  <a:pt x="840736" y="2897858"/>
                </a:cubicBezTo>
                <a:cubicBezTo>
                  <a:pt x="748375" y="2990218"/>
                  <a:pt x="623109" y="3042105"/>
                  <a:pt x="492492" y="3042105"/>
                </a:cubicBezTo>
                <a:lnTo>
                  <a:pt x="0" y="3042105"/>
                </a:lnTo>
              </a:path>
            </a:pathLst>
          </a:custGeom>
          <a:ln cap="rnd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1463909" y="6450553"/>
            <a:ext cx="1805513" cy="1551613"/>
            <a:chOff x="0" y="0"/>
            <a:chExt cx="2407351" cy="2068817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407351" cy="2068817"/>
              <a:chOff x="0" y="0"/>
              <a:chExt cx="812800" cy="6985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33542" y="0"/>
                <a:ext cx="745715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45715">
                    <a:moveTo>
                      <a:pt x="716723" y="456732"/>
                    </a:moveTo>
                    <a:lnTo>
                      <a:pt x="638593" y="591018"/>
                    </a:lnTo>
                    <a:cubicBezTo>
                      <a:pt x="599876" y="657563"/>
                      <a:pt x="528696" y="698500"/>
                      <a:pt x="451708" y="698500"/>
                    </a:cubicBezTo>
                    <a:lnTo>
                      <a:pt x="294008" y="698500"/>
                    </a:lnTo>
                    <a:cubicBezTo>
                      <a:pt x="217020" y="698500"/>
                      <a:pt x="145840" y="657563"/>
                      <a:pt x="107123" y="591018"/>
                    </a:cubicBezTo>
                    <a:lnTo>
                      <a:pt x="28993" y="456732"/>
                    </a:lnTo>
                    <a:cubicBezTo>
                      <a:pt x="-9664" y="390291"/>
                      <a:pt x="-9664" y="308209"/>
                      <a:pt x="28993" y="241768"/>
                    </a:cubicBezTo>
                    <a:lnTo>
                      <a:pt x="107123" y="107482"/>
                    </a:lnTo>
                    <a:cubicBezTo>
                      <a:pt x="145840" y="40937"/>
                      <a:pt x="217020" y="0"/>
                      <a:pt x="294008" y="0"/>
                    </a:cubicBezTo>
                    <a:lnTo>
                      <a:pt x="451708" y="0"/>
                    </a:lnTo>
                    <a:cubicBezTo>
                      <a:pt x="528696" y="0"/>
                      <a:pt x="599876" y="40937"/>
                      <a:pt x="638593" y="107482"/>
                    </a:cubicBezTo>
                    <a:lnTo>
                      <a:pt x="716723" y="241768"/>
                    </a:lnTo>
                    <a:cubicBezTo>
                      <a:pt x="755380" y="308209"/>
                      <a:pt x="755380" y="390291"/>
                      <a:pt x="716723" y="456732"/>
                    </a:cubicBezTo>
                    <a:close/>
                  </a:path>
                </a:pathLst>
              </a:custGeom>
              <a:solidFill>
                <a:srgbClr val="EF80F1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14300" y="-19050"/>
                <a:ext cx="5842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04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983782" y="606956"/>
              <a:ext cx="439786" cy="826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54"/>
                </a:lnSpc>
              </a:pPr>
              <a:r>
                <a:rPr lang="en-US" b="true" sz="4026">
                  <a:solidFill>
                    <a:srgbClr val="000000"/>
                  </a:solidFill>
                  <a:latin typeface="Anek Bangla SemiExpanded Bold"/>
                  <a:ea typeface="Anek Bangla SemiExpanded Bold"/>
                  <a:cs typeface="Anek Bangla SemiExpanded Bold"/>
                  <a:sym typeface="Anek Bangla SemiExpanded Bold"/>
                </a:rPr>
                <a:t>4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032607" y="5553218"/>
            <a:ext cx="2668117" cy="74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</a:pPr>
            <a:r>
              <a:rPr lang="en-US" b="true" sz="24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Gabor Feature Extraction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684186" y="3479884"/>
            <a:ext cx="1805513" cy="1551613"/>
            <a:chOff x="0" y="0"/>
            <a:chExt cx="2407351" cy="2068817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2407351" cy="2068817"/>
              <a:chOff x="0" y="0"/>
              <a:chExt cx="812800" cy="6985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33542" y="0"/>
                <a:ext cx="745715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745715">
                    <a:moveTo>
                      <a:pt x="716723" y="456732"/>
                    </a:moveTo>
                    <a:lnTo>
                      <a:pt x="638593" y="591018"/>
                    </a:lnTo>
                    <a:cubicBezTo>
                      <a:pt x="599876" y="657563"/>
                      <a:pt x="528696" y="698500"/>
                      <a:pt x="451708" y="698500"/>
                    </a:cubicBezTo>
                    <a:lnTo>
                      <a:pt x="294008" y="698500"/>
                    </a:lnTo>
                    <a:cubicBezTo>
                      <a:pt x="217020" y="698500"/>
                      <a:pt x="145840" y="657563"/>
                      <a:pt x="107123" y="591018"/>
                    </a:cubicBezTo>
                    <a:lnTo>
                      <a:pt x="28993" y="456732"/>
                    </a:lnTo>
                    <a:cubicBezTo>
                      <a:pt x="-9664" y="390291"/>
                      <a:pt x="-9664" y="308209"/>
                      <a:pt x="28993" y="241768"/>
                    </a:cubicBezTo>
                    <a:lnTo>
                      <a:pt x="107123" y="107482"/>
                    </a:lnTo>
                    <a:cubicBezTo>
                      <a:pt x="145840" y="40937"/>
                      <a:pt x="217020" y="0"/>
                      <a:pt x="294008" y="0"/>
                    </a:cubicBezTo>
                    <a:lnTo>
                      <a:pt x="451708" y="0"/>
                    </a:lnTo>
                    <a:cubicBezTo>
                      <a:pt x="528696" y="0"/>
                      <a:pt x="599876" y="40937"/>
                      <a:pt x="638593" y="107482"/>
                    </a:cubicBezTo>
                    <a:lnTo>
                      <a:pt x="716723" y="241768"/>
                    </a:lnTo>
                    <a:cubicBezTo>
                      <a:pt x="755380" y="308209"/>
                      <a:pt x="755380" y="390291"/>
                      <a:pt x="716723" y="456732"/>
                    </a:cubicBezTo>
                    <a:close/>
                  </a:path>
                </a:pathLst>
              </a:custGeom>
              <a:solidFill>
                <a:srgbClr val="F148F4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14300" y="-19050"/>
                <a:ext cx="5842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045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983782" y="606956"/>
              <a:ext cx="439786" cy="826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154"/>
                </a:lnSpc>
              </a:pPr>
              <a:r>
                <a:rPr lang="en-US" b="true" sz="4026">
                  <a:solidFill>
                    <a:srgbClr val="000000"/>
                  </a:solidFill>
                  <a:latin typeface="Anek Bangla SemiExpanded Bold"/>
                  <a:ea typeface="Anek Bangla SemiExpanded Bold"/>
                  <a:cs typeface="Anek Bangla SemiExpanded Bold"/>
                  <a:sym typeface="Anek Bangla SemiExpanded Bold"/>
                </a:rPr>
                <a:t>5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7731201" y="5553218"/>
            <a:ext cx="2668117" cy="74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</a:pPr>
            <a:r>
              <a:rPr lang="en-US" b="true" sz="24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Rubber Sheet Normalization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252884" y="5553218"/>
            <a:ext cx="2668117" cy="74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2"/>
              </a:lnSpc>
            </a:pPr>
            <a:r>
              <a:rPr lang="en-US" b="true" sz="2400">
                <a:solidFill>
                  <a:srgbClr val="000000"/>
                </a:solidFill>
                <a:latin typeface="Anek Bangla SemiExpanded Bold"/>
                <a:ea typeface="Anek Bangla SemiExpanded Bold"/>
                <a:cs typeface="Anek Bangla SemiExpanded Bold"/>
                <a:sym typeface="Anek Bangla SemiExpanded Bold"/>
              </a:rPr>
              <a:t>Masked HD Matching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78614" y="6281309"/>
            <a:ext cx="1923943" cy="213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4"/>
              </a:lnSpc>
            </a:pPr>
            <a:r>
              <a:rPr lang="en-US" sz="1917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Preliminary analysis of contrast, focus, and brightness for diagnostic purposes.</a:t>
            </a:r>
          </a:p>
          <a:p>
            <a:pPr algn="ctr" marL="0" indent="0" lvl="0">
              <a:lnSpc>
                <a:spcPts val="2454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4554908" y="3460834"/>
            <a:ext cx="2580150" cy="182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4"/>
              </a:lnSpc>
            </a:pPr>
            <a:r>
              <a:rPr lang="en-US" sz="1917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Geometric estimation of circular pupil and iris boundaries and strict rejection of geometric anomalies.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877874" y="6527485"/>
            <a:ext cx="2374771" cy="152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4"/>
              </a:lnSpc>
            </a:pPr>
            <a:r>
              <a:rPr lang="en-US" sz="1917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Transformation of the annular iris into a fixed-coordinate rectangular map (64x512).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76590" y="3460834"/>
            <a:ext cx="2580150" cy="182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4"/>
              </a:lnSpc>
            </a:pPr>
            <a:r>
              <a:rPr lang="en-US" sz="1917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Exclusive isolation of lateral regions to remove noise and generation of balanced binary templates.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296867" y="6527485"/>
            <a:ext cx="2580150" cy="152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4"/>
              </a:lnSpc>
            </a:pPr>
            <a:r>
              <a:rPr lang="en-US" sz="1917">
                <a:solidFill>
                  <a:srgbClr val="000000"/>
                </a:solidFill>
                <a:latin typeface="Anek Bangla SemiExpanded"/>
                <a:ea typeface="Anek Bangla SemiExpanded"/>
                <a:cs typeface="Anek Bangla SemiExpanded"/>
                <a:sym typeface="Anek Bangla SemiExpanded"/>
              </a:rPr>
              <a:t>Comparison of shared valid bits only, with angular shift compensation for eye rotation.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126378" y="3191393"/>
          <a:ext cx="5657850" cy="2514600"/>
        </p:xfrm>
        <a:graphic>
          <a:graphicData uri="http://schemas.openxmlformats.org/presentationml/2006/ole">
            <p:oleObj imgW="6781800" imgH="3644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77539" y="1304008"/>
            <a:ext cx="16132922" cy="93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9"/>
              </a:lnSpc>
            </a:pPr>
            <a:r>
              <a:rPr lang="en-US" sz="554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Engineeri</a:t>
            </a:r>
            <a:r>
              <a:rPr lang="en-US" b="true" sz="554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ng: Tools &amp; Design Choices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25681" y="3435730"/>
            <a:ext cx="8001140" cy="484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995" indent="-214498" lvl="1">
              <a:lnSpc>
                <a:spcPts val="2781"/>
              </a:lnSpc>
              <a:buFont typeface="Arial"/>
              <a:buChar char="•"/>
            </a:pPr>
            <a:r>
              <a:rPr lang="en-US" b="true" sz="19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Quality Over Quantity</a:t>
            </a: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➔ We intentionally sacrificed dataset size to guarantee absolute geometric accuracy.</a:t>
            </a:r>
          </a:p>
          <a:p>
            <a:pPr algn="l">
              <a:lnSpc>
                <a:spcPts val="2781"/>
              </a:lnSpc>
            </a:pPr>
          </a:p>
          <a:p>
            <a:pPr algn="l" marL="428995" indent="-214498" lvl="1">
              <a:lnSpc>
                <a:spcPts val="2781"/>
              </a:lnSpc>
              <a:buFont typeface="Arial"/>
              <a:buChar char="•"/>
            </a:pPr>
            <a:r>
              <a:rPr lang="en-US" b="true" sz="19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Zero-T</a:t>
            </a:r>
            <a:r>
              <a:rPr lang="en-US" b="true" sz="19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olerance for Noise</a:t>
            </a: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➔ Custom masking strategies were built to completely isolate the iris from biological artifacts (eyelids/lashes).</a:t>
            </a:r>
          </a:p>
          <a:p>
            <a:pPr algn="l">
              <a:lnSpc>
                <a:spcPts val="2781"/>
              </a:lnSpc>
            </a:pPr>
          </a:p>
          <a:p>
            <a:pPr algn="l" marL="428995" indent="-214498" lvl="1">
              <a:lnSpc>
                <a:spcPts val="2781"/>
              </a:lnSpc>
              <a:buFont typeface="Arial"/>
              <a:buChar char="•"/>
            </a:pPr>
            <a:r>
              <a:rPr lang="en-US" b="true" sz="19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</a:t>
            </a:r>
            <a:r>
              <a:rPr lang="en-US" b="true" sz="19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nbiased Metrics</a:t>
            </a: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➔ The mathematical matching was designed to compare only pe</a:t>
            </a: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rf</a:t>
            </a: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ectly reliable reg</a:t>
            </a: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ions, avoiding artificial penalties.</a:t>
            </a:r>
          </a:p>
          <a:p>
            <a:pPr algn="l">
              <a:lnSpc>
                <a:spcPts val="2781"/>
              </a:lnSpc>
            </a:pPr>
          </a:p>
          <a:p>
            <a:pPr algn="l" marL="428995" indent="-214498" lvl="1">
              <a:lnSpc>
                <a:spcPts val="2781"/>
              </a:lnSpc>
              <a:buFont typeface="Arial"/>
              <a:buChar char="•"/>
            </a:pPr>
            <a:r>
              <a:rPr lang="en-US" b="true" sz="19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Targeted Evalu</a:t>
            </a:r>
            <a:r>
              <a:rPr lang="en-US" b="true" sz="198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ation</a:t>
            </a: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➔ Pair generat</a:t>
            </a: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ion was highly controlled to ensure the twin analysis was computationally feasible without losing a single genetic comparison.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13500" y="2818907"/>
            <a:ext cx="6425501" cy="372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4"/>
              </a:lnSpc>
            </a:pPr>
            <a:r>
              <a:rPr lang="en-US" b="true" sz="221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Our Engineeri</a:t>
            </a:r>
            <a:r>
              <a:rPr lang="en-US" b="true" sz="221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ng Philosophy: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8479" y="1882256"/>
            <a:ext cx="16971042" cy="7376044"/>
            <a:chOff x="0" y="0"/>
            <a:chExt cx="22628057" cy="9834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62910" y="4899430"/>
              <a:ext cx="6532573" cy="4899430"/>
            </a:xfrm>
            <a:custGeom>
              <a:avLst/>
              <a:gdLst/>
              <a:ahLst/>
              <a:cxnLst/>
              <a:rect r="r" b="b" t="t" l="l"/>
              <a:pathLst>
                <a:path h="4899430" w="6532573">
                  <a:moveTo>
                    <a:pt x="0" y="0"/>
                  </a:moveTo>
                  <a:lnTo>
                    <a:pt x="6532573" y="0"/>
                  </a:lnTo>
                  <a:lnTo>
                    <a:pt x="6532573" y="4899430"/>
                  </a:lnTo>
                  <a:lnTo>
                    <a:pt x="0" y="4899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095483" y="0"/>
              <a:ext cx="6532573" cy="4899430"/>
            </a:xfrm>
            <a:custGeom>
              <a:avLst/>
              <a:gdLst/>
              <a:ahLst/>
              <a:cxnLst/>
              <a:rect r="r" b="b" t="t" l="l"/>
              <a:pathLst>
                <a:path h="4899430" w="6532573">
                  <a:moveTo>
                    <a:pt x="0" y="0"/>
                  </a:moveTo>
                  <a:lnTo>
                    <a:pt x="6532574" y="0"/>
                  </a:lnTo>
                  <a:lnTo>
                    <a:pt x="6532574" y="4899430"/>
                  </a:lnTo>
                  <a:lnTo>
                    <a:pt x="0" y="4899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6095483" y="4899430"/>
              <a:ext cx="6532573" cy="4899430"/>
            </a:xfrm>
            <a:custGeom>
              <a:avLst/>
              <a:gdLst/>
              <a:ahLst/>
              <a:cxnLst/>
              <a:rect r="r" b="b" t="t" l="l"/>
              <a:pathLst>
                <a:path h="4899430" w="6532573">
                  <a:moveTo>
                    <a:pt x="0" y="0"/>
                  </a:moveTo>
                  <a:lnTo>
                    <a:pt x="6532574" y="0"/>
                  </a:lnTo>
                  <a:lnTo>
                    <a:pt x="6532574" y="4899430"/>
                  </a:lnTo>
                  <a:lnTo>
                    <a:pt x="0" y="4899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9562910" y="0"/>
              <a:ext cx="6532573" cy="4899430"/>
            </a:xfrm>
            <a:custGeom>
              <a:avLst/>
              <a:gdLst/>
              <a:ahLst/>
              <a:cxnLst/>
              <a:rect r="r" b="b" t="t" l="l"/>
              <a:pathLst>
                <a:path h="4899430" w="6532573">
                  <a:moveTo>
                    <a:pt x="0" y="0"/>
                  </a:moveTo>
                  <a:lnTo>
                    <a:pt x="6532573" y="0"/>
                  </a:lnTo>
                  <a:lnTo>
                    <a:pt x="6532573" y="4899430"/>
                  </a:lnTo>
                  <a:lnTo>
                    <a:pt x="0" y="4899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-38100"/>
              <a:ext cx="9029740" cy="987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4376" indent="-227188" lvl="1">
                <a:lnSpc>
                  <a:spcPts val="2946"/>
                </a:lnSpc>
                <a:buFont typeface="Arial"/>
                <a:buChar char="•"/>
              </a:pPr>
              <a:r>
                <a:rPr lang="en-US" b="true" sz="2104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</a:t>
              </a:r>
              <a:r>
                <a:rPr lang="en-US" sz="210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Compute quality metrics (Brightness, Contrast, Focus, Extreme Pixels) for later failure analysis.</a:t>
              </a:r>
            </a:p>
            <a:p>
              <a:pPr algn="l">
                <a:lnSpc>
                  <a:spcPts val="2946"/>
                </a:lnSpc>
              </a:pPr>
            </a:p>
            <a:p>
              <a:pPr algn="l" marL="454376" indent="-227188" lvl="1">
                <a:lnSpc>
                  <a:spcPts val="2946"/>
                </a:lnSpc>
                <a:buFont typeface="Arial"/>
                <a:buChar char="•"/>
              </a:pPr>
              <a:r>
                <a:rPr lang="en-US" sz="210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Most images show stable brightness an</a:t>
              </a:r>
              <a:r>
                <a:rPr lang="en-US" sz="210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 contrast.</a:t>
              </a:r>
            </a:p>
            <a:p>
              <a:pPr algn="l">
                <a:lnSpc>
                  <a:spcPts val="2946"/>
                </a:lnSpc>
              </a:pPr>
            </a:p>
            <a:p>
              <a:pPr algn="l" marL="454376" indent="-227188" lvl="1">
                <a:lnSpc>
                  <a:spcPts val="2946"/>
                </a:lnSpc>
                <a:buFont typeface="Arial"/>
                <a:buChar char="•"/>
              </a:pPr>
              <a:r>
                <a:rPr lang="en-US" b="true" sz="2104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Outliers</a:t>
              </a:r>
              <a:r>
                <a:rPr lang="en-US" sz="210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Long tails in focus and dark/bright ratios indicate problematic samples that we intentionally kept.</a:t>
              </a:r>
            </a:p>
            <a:p>
              <a:pPr algn="l">
                <a:lnSpc>
                  <a:spcPts val="2946"/>
                </a:lnSpc>
              </a:pPr>
            </a:p>
            <a:p>
              <a:pPr algn="l">
                <a:lnSpc>
                  <a:spcPts val="2946"/>
                </a:lnSpc>
              </a:pPr>
              <a:r>
                <a:rPr lang="en-US" b="true" sz="2104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Why keep the outliers?</a:t>
              </a:r>
            </a:p>
            <a:p>
              <a:pPr algn="l">
                <a:lnSpc>
                  <a:spcPts val="2946"/>
                </a:lnSpc>
              </a:pPr>
            </a:p>
            <a:p>
              <a:pPr algn="l" marL="454376" indent="-227188" lvl="1">
                <a:lnSpc>
                  <a:spcPts val="2946"/>
                </a:lnSpc>
                <a:buFont typeface="Arial"/>
                <a:buChar char="•"/>
              </a:pPr>
              <a:r>
                <a:rPr lang="en-US" b="true" sz="2104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 arbitrary thresholds</a:t>
              </a:r>
              <a:r>
                <a:rPr lang="en-US" sz="210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Avoided human bias in data filtering.</a:t>
              </a:r>
            </a:p>
            <a:p>
              <a:pPr algn="l" marL="454376" indent="-227188" lvl="1">
                <a:lnSpc>
                  <a:spcPts val="2946"/>
                </a:lnSpc>
                <a:buFont typeface="Arial"/>
                <a:buChar char="•"/>
              </a:pPr>
              <a:r>
                <a:rPr lang="en-US" b="true" sz="2104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Algorithmic rejection</a:t>
              </a:r>
              <a:r>
                <a:rPr lang="en-US" sz="210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Let the Strict Segmentation naturally discard unusable images.</a:t>
              </a:r>
            </a:p>
            <a:p>
              <a:pPr algn="l" marL="454376" indent="-227188" lvl="1">
                <a:lnSpc>
                  <a:spcPts val="2946"/>
                </a:lnSpc>
                <a:buFont typeface="Arial"/>
                <a:buChar char="•"/>
              </a:pPr>
              <a:r>
                <a:rPr lang="en-US" b="true" sz="2104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Real-world testing</a:t>
              </a:r>
              <a:r>
                <a:rPr lang="en-US" sz="2104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 Preserved hard cases for realistic evaluation and Failure Analysis.</a:t>
              </a:r>
            </a:p>
            <a:p>
              <a:pPr algn="l">
                <a:lnSpc>
                  <a:spcPts val="2946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582168" y="341399"/>
            <a:ext cx="1312366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 Quality Audit &amp; Distributions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3797" y="2819062"/>
            <a:ext cx="2363702" cy="1751156"/>
          </a:xfrm>
          <a:custGeom>
            <a:avLst/>
            <a:gdLst/>
            <a:ahLst/>
            <a:cxnLst/>
            <a:rect r="r" b="b" t="t" l="l"/>
            <a:pathLst>
              <a:path h="1751156" w="2363702">
                <a:moveTo>
                  <a:pt x="0" y="0"/>
                </a:moveTo>
                <a:lnTo>
                  <a:pt x="2363701" y="0"/>
                </a:lnTo>
                <a:lnTo>
                  <a:pt x="2363701" y="1751156"/>
                </a:lnTo>
                <a:lnTo>
                  <a:pt x="0" y="17511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590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62573" y="2819062"/>
            <a:ext cx="2265779" cy="1751156"/>
          </a:xfrm>
          <a:custGeom>
            <a:avLst/>
            <a:gdLst/>
            <a:ahLst/>
            <a:cxnLst/>
            <a:rect r="r" b="b" t="t" l="l"/>
            <a:pathLst>
              <a:path h="1751156" w="2265779">
                <a:moveTo>
                  <a:pt x="0" y="0"/>
                </a:moveTo>
                <a:lnTo>
                  <a:pt x="2265779" y="0"/>
                </a:lnTo>
                <a:lnTo>
                  <a:pt x="2265779" y="1751156"/>
                </a:lnTo>
                <a:lnTo>
                  <a:pt x="0" y="1751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97" t="-131" r="0" b="-3603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45681" y="2892628"/>
            <a:ext cx="2254837" cy="1730591"/>
          </a:xfrm>
          <a:custGeom>
            <a:avLst/>
            <a:gdLst/>
            <a:ahLst/>
            <a:cxnLst/>
            <a:rect r="r" b="b" t="t" l="l"/>
            <a:pathLst>
              <a:path h="1730591" w="2254837">
                <a:moveTo>
                  <a:pt x="0" y="0"/>
                </a:moveTo>
                <a:lnTo>
                  <a:pt x="2254837" y="0"/>
                </a:lnTo>
                <a:lnTo>
                  <a:pt x="2254837" y="1730590"/>
                </a:lnTo>
                <a:lnTo>
                  <a:pt x="0" y="1730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210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24285" y="2872062"/>
            <a:ext cx="2221397" cy="1751156"/>
          </a:xfrm>
          <a:custGeom>
            <a:avLst/>
            <a:gdLst/>
            <a:ahLst/>
            <a:cxnLst/>
            <a:rect r="r" b="b" t="t" l="l"/>
            <a:pathLst>
              <a:path h="1751156" w="2221397">
                <a:moveTo>
                  <a:pt x="0" y="0"/>
                </a:moveTo>
                <a:lnTo>
                  <a:pt x="2221396" y="0"/>
                </a:lnTo>
                <a:lnTo>
                  <a:pt x="2221396" y="1751156"/>
                </a:lnTo>
                <a:lnTo>
                  <a:pt x="0" y="17511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131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3797" y="2255348"/>
            <a:ext cx="3209376" cy="40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Bright ratio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54900" y="2654992"/>
            <a:ext cx="3042837" cy="203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bright ratio:</a:t>
            </a:r>
          </a:p>
          <a:p>
            <a:pPr algn="l">
              <a:lnSpc>
                <a:spcPts val="2716"/>
              </a:lnSpc>
            </a:pPr>
          </a:p>
          <a:p>
            <a:pPr algn="l" marL="418995" indent="-209498" lvl="1">
              <a:lnSpc>
                <a:spcPts val="2716"/>
              </a:lnSpc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lections/saturation hide iris texture</a:t>
            </a:r>
          </a:p>
          <a:p>
            <a:pPr algn="l" marL="418995" indent="-209498" lvl="1">
              <a:lnSpc>
                <a:spcPts val="2716"/>
              </a:lnSpc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mask removes more pixels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83137" y="5774003"/>
            <a:ext cx="2272061" cy="1702772"/>
          </a:xfrm>
          <a:custGeom>
            <a:avLst/>
            <a:gdLst/>
            <a:ahLst/>
            <a:cxnLst/>
            <a:rect r="r" b="b" t="t" l="l"/>
            <a:pathLst>
              <a:path h="1702772" w="2272061">
                <a:moveTo>
                  <a:pt x="0" y="0"/>
                </a:moveTo>
                <a:lnTo>
                  <a:pt x="2272062" y="0"/>
                </a:lnTo>
                <a:lnTo>
                  <a:pt x="2272062" y="1702771"/>
                </a:lnTo>
                <a:lnTo>
                  <a:pt x="0" y="1702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625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40071" y="5774003"/>
            <a:ext cx="2288281" cy="1702772"/>
          </a:xfrm>
          <a:custGeom>
            <a:avLst/>
            <a:gdLst/>
            <a:ahLst/>
            <a:cxnLst/>
            <a:rect r="r" b="b" t="t" l="l"/>
            <a:pathLst>
              <a:path h="1702772" w="2288281">
                <a:moveTo>
                  <a:pt x="0" y="0"/>
                </a:moveTo>
                <a:lnTo>
                  <a:pt x="2288281" y="0"/>
                </a:lnTo>
                <a:lnTo>
                  <a:pt x="2288281" y="1702771"/>
                </a:lnTo>
                <a:lnTo>
                  <a:pt x="0" y="17027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3625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33363" y="5766488"/>
            <a:ext cx="2314184" cy="1807357"/>
          </a:xfrm>
          <a:custGeom>
            <a:avLst/>
            <a:gdLst/>
            <a:ahLst/>
            <a:cxnLst/>
            <a:rect r="r" b="b" t="t" l="l"/>
            <a:pathLst>
              <a:path h="1807357" w="2314184">
                <a:moveTo>
                  <a:pt x="0" y="0"/>
                </a:moveTo>
                <a:lnTo>
                  <a:pt x="2314185" y="0"/>
                </a:lnTo>
                <a:lnTo>
                  <a:pt x="2314185" y="1807357"/>
                </a:lnTo>
                <a:lnTo>
                  <a:pt x="0" y="18073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3449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07004" y="5766488"/>
            <a:ext cx="2455839" cy="1807357"/>
          </a:xfrm>
          <a:custGeom>
            <a:avLst/>
            <a:gdLst/>
            <a:ahLst/>
            <a:cxnLst/>
            <a:rect r="r" b="b" t="t" l="l"/>
            <a:pathLst>
              <a:path h="1807357" w="2455839">
                <a:moveTo>
                  <a:pt x="0" y="0"/>
                </a:moveTo>
                <a:lnTo>
                  <a:pt x="2455840" y="0"/>
                </a:lnTo>
                <a:lnTo>
                  <a:pt x="2455840" y="1807357"/>
                </a:lnTo>
                <a:lnTo>
                  <a:pt x="0" y="18073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7739" b="-6228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3137" y="5229724"/>
            <a:ext cx="1385127" cy="40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Contrast: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54900" y="5573702"/>
            <a:ext cx="3042837" cy="205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6"/>
              </a:lnSpc>
            </a:pPr>
            <a:r>
              <a:rPr lang="en-US" sz="19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</a:t>
            </a:r>
            <a:r>
              <a:rPr lang="en-US" b="true" sz="19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contrast</a:t>
            </a: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just">
              <a:lnSpc>
                <a:spcPts val="2716"/>
              </a:lnSpc>
            </a:pPr>
          </a:p>
          <a:p>
            <a:pPr algn="l" marL="418847" indent="-209423" lvl="1">
              <a:lnSpc>
                <a:spcPts val="2716"/>
              </a:lnSpc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iris texture is less visible</a:t>
            </a:r>
          </a:p>
          <a:p>
            <a:pPr algn="l" marL="418847" indent="-209423" lvl="1">
              <a:lnSpc>
                <a:spcPts val="2716"/>
              </a:lnSpc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Gabor/LBP features become weaker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24285" y="5322565"/>
            <a:ext cx="890736" cy="40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245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Focus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24368" y="5745152"/>
            <a:ext cx="3699835" cy="171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 focus score:</a:t>
            </a:r>
          </a:p>
          <a:p>
            <a:pPr algn="l">
              <a:lnSpc>
                <a:spcPts val="2716"/>
              </a:lnSpc>
            </a:pPr>
          </a:p>
          <a:p>
            <a:pPr algn="l" marL="418847" indent="-209423" lvl="1">
              <a:lnSpc>
                <a:spcPts val="2716"/>
              </a:lnSpc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blurred texture</a:t>
            </a:r>
          </a:p>
          <a:p>
            <a:pPr algn="l" marL="418847" indent="-209423" lvl="1">
              <a:lnSpc>
                <a:spcPts val="2716"/>
              </a:lnSpc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iris can produce higher Hamming Distance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24285" y="2236298"/>
            <a:ext cx="3209376" cy="43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6"/>
              </a:lnSpc>
            </a:pPr>
            <a:r>
              <a:rPr lang="en-US" sz="251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Dark ratio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24368" y="2471503"/>
            <a:ext cx="3699835" cy="23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 brightness / high </a:t>
            </a:r>
            <a:r>
              <a:rPr lang="en-US" b="true" sz="194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dark ratio:</a:t>
            </a:r>
          </a:p>
          <a:p>
            <a:pPr algn="l">
              <a:lnSpc>
                <a:spcPts val="2716"/>
              </a:lnSpc>
            </a:pPr>
          </a:p>
          <a:p>
            <a:pPr algn="l" marL="418847" indent="-209423" lvl="1">
              <a:lnSpc>
                <a:spcPts val="2716"/>
              </a:lnSpc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pupil and iris boundaries become harder to detect</a:t>
            </a:r>
          </a:p>
          <a:p>
            <a:pPr algn="l" marL="418847" indent="-209423" lvl="1">
              <a:lnSpc>
                <a:spcPts val="2716"/>
              </a:lnSpc>
              <a:buFont typeface="Arial"/>
              <a:buChar char="•"/>
            </a:pPr>
            <a:r>
              <a:rPr lang="en-US" sz="19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segmentation may fail or shift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009650"/>
            <a:ext cx="26173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448422" y="8364420"/>
            <a:ext cx="14498630" cy="97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b="true" sz="2798" i="true" u="sng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These values were not used to discard images automatically, but to explain segmentation, matching and identification failures.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01752" y="914400"/>
            <a:ext cx="1168449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Impact of Quality Extremes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8832932" y="2948306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7127" y="933450"/>
            <a:ext cx="8367425" cy="86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3"/>
              </a:lnSpc>
              <a:spcBef>
                <a:spcPct val="0"/>
              </a:spcBef>
            </a:pPr>
            <a:r>
              <a:rPr lang="en-US" sz="503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Ir</a:t>
            </a:r>
            <a:r>
              <a:rPr lang="en-US" sz="503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 Segmentation: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7127" y="1929448"/>
            <a:ext cx="12752898" cy="52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  <a:spcBef>
                <a:spcPct val="0"/>
              </a:spcBef>
            </a:pPr>
            <a:r>
              <a:rPr lang="en-US" sz="308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From Broad</a:t>
            </a:r>
            <a:r>
              <a:rPr lang="en-US" sz="308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Acceptance to Strict Filtering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17127" y="3630639"/>
            <a:ext cx="6783863" cy="3025723"/>
            <a:chOff x="0" y="0"/>
            <a:chExt cx="9045151" cy="40342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28286" cy="3191858"/>
            </a:xfrm>
            <a:custGeom>
              <a:avLst/>
              <a:gdLst/>
              <a:ahLst/>
              <a:cxnLst/>
              <a:rect r="r" b="b" t="t" l="l"/>
              <a:pathLst>
                <a:path h="3191858" w="4528286">
                  <a:moveTo>
                    <a:pt x="0" y="0"/>
                  </a:moveTo>
                  <a:lnTo>
                    <a:pt x="4528286" y="0"/>
                  </a:lnTo>
                  <a:lnTo>
                    <a:pt x="4528286" y="3191858"/>
                  </a:lnTo>
                  <a:lnTo>
                    <a:pt x="0" y="3191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528286" y="6790"/>
              <a:ext cx="4516865" cy="3183807"/>
            </a:xfrm>
            <a:custGeom>
              <a:avLst/>
              <a:gdLst/>
              <a:ahLst/>
              <a:cxnLst/>
              <a:rect r="r" b="b" t="t" l="l"/>
              <a:pathLst>
                <a:path h="3183807" w="4516865">
                  <a:moveTo>
                    <a:pt x="0" y="0"/>
                  </a:moveTo>
                  <a:lnTo>
                    <a:pt x="4516865" y="0"/>
                  </a:lnTo>
                  <a:lnTo>
                    <a:pt x="4516865" y="3183808"/>
                  </a:lnTo>
                  <a:lnTo>
                    <a:pt x="0" y="3183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409877" y="3370652"/>
              <a:ext cx="3927449" cy="663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7"/>
                </a:lnSpc>
              </a:pPr>
              <a:r>
                <a:rPr lang="en-US" sz="149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conf=high | ratio=3.00 </a:t>
              </a:r>
            </a:p>
            <a:p>
              <a:pPr algn="ctr">
                <a:lnSpc>
                  <a:spcPts val="2097"/>
                </a:lnSpc>
                <a:spcBef>
                  <a:spcPct val="0"/>
                </a:spcBef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828705" y="3370652"/>
              <a:ext cx="3927449" cy="663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7"/>
                </a:lnSpc>
              </a:pPr>
              <a:r>
                <a:rPr lang="en-US" sz="149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conf=low | ratio=1.97 </a:t>
              </a:r>
            </a:p>
            <a:p>
              <a:pPr algn="l">
                <a:lnSpc>
                  <a:spcPts val="2097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97139" y="7864938"/>
            <a:ext cx="15293722" cy="194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846" indent="-241423" lvl="1">
              <a:lnSpc>
                <a:spcPts val="3131"/>
              </a:lnSpc>
              <a:buFont typeface="Arial"/>
              <a:buChar char="•"/>
            </a:pPr>
            <a:r>
              <a:rPr lang="en-US" b="true" sz="22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Trade-off</a:t>
            </a:r>
            <a:r>
              <a:rPr lang="en-US" sz="22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We evaluated multiple approaches to balance dataset size and geometric accuracy.</a:t>
            </a:r>
          </a:p>
          <a:p>
            <a:pPr algn="l">
              <a:lnSpc>
                <a:spcPts val="3131"/>
              </a:lnSpc>
            </a:pPr>
          </a:p>
          <a:p>
            <a:pPr algn="l" marL="482846" indent="-241423" lvl="1">
              <a:lnSpc>
                <a:spcPts val="3131"/>
              </a:lnSpc>
              <a:buFont typeface="Arial"/>
              <a:buChar char="•"/>
            </a:pPr>
            <a:r>
              <a:rPr lang="en-US" b="true" sz="223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Choice</a:t>
            </a:r>
            <a:r>
              <a:rPr lang="en-US" sz="22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We opted for the Strict Daugman-style, sacrificing over half the dataset (46.05% retained) to guarantee zero tolerance for misaligned boundaries.</a:t>
            </a:r>
          </a:p>
          <a:p>
            <a:pPr algn="l">
              <a:lnSpc>
                <a:spcPts val="31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0627" y="1554583"/>
            <a:ext cx="13166746" cy="285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0"/>
              </a:lnSpc>
              <a:spcBef>
                <a:spcPct val="0"/>
              </a:spcBef>
            </a:pPr>
            <a:r>
              <a:rPr lang="en-US" sz="54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</a:t>
            </a:r>
            <a:r>
              <a:rPr lang="en-US" sz="54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augman-style Strict Segmentation</a:t>
            </a:r>
          </a:p>
          <a:p>
            <a:pPr algn="l">
              <a:lnSpc>
                <a:spcPts val="7640"/>
              </a:lnSpc>
              <a:spcBef>
                <a:spcPct val="0"/>
              </a:spcBef>
            </a:pPr>
          </a:p>
          <a:p>
            <a:pPr algn="ctr">
              <a:lnSpc>
                <a:spcPts val="7640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37391" y="2974547"/>
            <a:ext cx="13562950" cy="608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705" indent="-221853" lvl="1">
              <a:lnSpc>
                <a:spcPts val="3000"/>
              </a:lnSpc>
              <a:buFont typeface="Arial"/>
              <a:buChar char="•"/>
            </a:pPr>
            <a:r>
              <a:rPr lang="en-US" sz="20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positions and sizes of the pupil and iris boundaries are estimated using a</a:t>
            </a:r>
            <a:r>
              <a:rPr lang="en-US" b="true" sz="20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utomatic segmentation algorithms</a:t>
            </a:r>
            <a:r>
              <a:rPr lang="en-US" sz="20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specifically Daugman’s integro-differential operator for circular boundary detection and active contour (snake) models for refining the iris and pupil edges.</a:t>
            </a:r>
          </a:p>
          <a:p>
            <a:pPr algn="l">
              <a:lnSpc>
                <a:spcPts val="3000"/>
              </a:lnSpc>
            </a:pPr>
          </a:p>
          <a:p>
            <a:pPr algn="l" marL="443705" indent="-221853" lvl="1">
              <a:lnSpc>
                <a:spcPts val="3000"/>
              </a:lnSpc>
              <a:buFont typeface="Arial"/>
              <a:buChar char="•"/>
            </a:pPr>
            <a:r>
              <a:rPr lang="en-US" b="true" sz="20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Strict quality checks </a:t>
            </a:r>
            <a:r>
              <a:rPr lang="en-US" sz="20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 applied:</a:t>
            </a:r>
          </a:p>
          <a:p>
            <a:pPr algn="l">
              <a:lnSpc>
                <a:spcPts val="3000"/>
              </a:lnSpc>
            </a:pPr>
          </a:p>
          <a:p>
            <a:pPr algn="l" marL="887411" indent="-295804" lvl="2">
              <a:lnSpc>
                <a:spcPts val="3000"/>
              </a:lnSpc>
              <a:buFont typeface="Arial"/>
              <a:buChar char="⚬"/>
            </a:pPr>
            <a:r>
              <a:rPr lang="en-US" b="true" sz="20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ratio</a:t>
            </a:r>
            <a:r>
              <a:rPr lang="en-US" sz="20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between pupil and iris radii, to verify realistic proportions</a:t>
            </a:r>
          </a:p>
          <a:p>
            <a:pPr algn="l">
              <a:lnSpc>
                <a:spcPts val="3000"/>
              </a:lnSpc>
            </a:pPr>
          </a:p>
          <a:p>
            <a:pPr algn="l" marL="887411" indent="-295804" lvl="2">
              <a:lnSpc>
                <a:spcPts val="3000"/>
              </a:lnSpc>
              <a:buFont typeface="Arial"/>
              <a:buChar char="⚬"/>
            </a:pPr>
            <a:r>
              <a:rPr lang="en-US" b="true" sz="20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distance</a:t>
            </a:r>
            <a:r>
              <a:rPr lang="en-US" sz="20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between pupil and iris centers, to exclude abnormal misalignments</a:t>
            </a:r>
          </a:p>
          <a:p>
            <a:pPr algn="l">
              <a:lnSpc>
                <a:spcPts val="3000"/>
              </a:lnSpc>
            </a:pPr>
          </a:p>
          <a:p>
            <a:pPr algn="l" marL="887411" indent="-295804" lvl="2">
              <a:lnSpc>
                <a:spcPts val="3000"/>
              </a:lnSpc>
              <a:buFont typeface="Arial"/>
              <a:buChar char="⚬"/>
            </a:pPr>
            <a:r>
              <a:rPr lang="en-US" b="true" sz="20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iris score</a:t>
            </a:r>
            <a:r>
              <a:rPr lang="en-US" sz="20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which measures the overall quality of the segmentation</a:t>
            </a:r>
          </a:p>
          <a:p>
            <a:pPr algn="l">
              <a:lnSpc>
                <a:spcPts val="3000"/>
              </a:lnSpc>
            </a:pPr>
          </a:p>
          <a:p>
            <a:pPr algn="l" marL="887411" indent="-295804" lvl="2">
              <a:lnSpc>
                <a:spcPts val="3000"/>
              </a:lnSpc>
              <a:buFont typeface="Arial"/>
              <a:buChar char="⚬"/>
            </a:pPr>
            <a:r>
              <a:rPr lang="en-US" b="true" sz="20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pupil darkness</a:t>
            </a:r>
            <a:r>
              <a:rPr lang="en-US" sz="20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level, to ensure proper contrast</a:t>
            </a:r>
          </a:p>
          <a:p>
            <a:pPr algn="l">
              <a:lnSpc>
                <a:spcPts val="3000"/>
              </a:lnSpc>
            </a:pPr>
          </a:p>
          <a:p>
            <a:pPr algn="l" marL="887411" indent="-295804" lvl="2">
              <a:lnSpc>
                <a:spcPts val="3000"/>
              </a:lnSpc>
              <a:buFont typeface="Arial"/>
              <a:buChar char="⚬"/>
            </a:pPr>
            <a:r>
              <a:rPr lang="en-US" b="true" sz="205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contour plausibility</a:t>
            </a:r>
            <a:r>
              <a:rPr lang="en-US" sz="20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to eliminate irregular or incomplete segmentations</a:t>
            </a:r>
          </a:p>
          <a:p>
            <a:pPr algn="l">
              <a:lnSpc>
                <a:spcPts val="3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42428"/>
            <a:ext cx="10185275" cy="2230014"/>
          </a:xfrm>
          <a:custGeom>
            <a:avLst/>
            <a:gdLst/>
            <a:ahLst/>
            <a:cxnLst/>
            <a:rect r="r" b="b" t="t" l="l"/>
            <a:pathLst>
              <a:path h="2230014" w="10185275">
                <a:moveTo>
                  <a:pt x="0" y="0"/>
                </a:moveTo>
                <a:lnTo>
                  <a:pt x="10185275" y="0"/>
                </a:lnTo>
                <a:lnTo>
                  <a:pt x="10185275" y="2230013"/>
                </a:lnTo>
                <a:lnTo>
                  <a:pt x="0" y="2230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0" t="-1609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89208" y="933450"/>
            <a:ext cx="9709584" cy="189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0"/>
              </a:lnSpc>
              <a:spcBef>
                <a:spcPct val="0"/>
              </a:spcBef>
            </a:pPr>
            <a:r>
              <a:rPr lang="en-US" sz="54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Segmentation examples </a:t>
            </a:r>
          </a:p>
          <a:p>
            <a:pPr algn="ctr">
              <a:lnSpc>
                <a:spcPts val="764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6364500"/>
            <a:ext cx="10185275" cy="2893800"/>
            <a:chOff x="0" y="0"/>
            <a:chExt cx="13580366" cy="3858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854643"/>
              <a:ext cx="13580366" cy="3003757"/>
            </a:xfrm>
            <a:custGeom>
              <a:avLst/>
              <a:gdLst/>
              <a:ahLst/>
              <a:cxnLst/>
              <a:rect r="r" b="b" t="t" l="l"/>
              <a:pathLst>
                <a:path h="3003757" w="13580366">
                  <a:moveTo>
                    <a:pt x="0" y="0"/>
                  </a:moveTo>
                  <a:lnTo>
                    <a:pt x="13580366" y="0"/>
                  </a:lnTo>
                  <a:lnTo>
                    <a:pt x="13580366" y="3003757"/>
                  </a:lnTo>
                  <a:lnTo>
                    <a:pt x="0" y="3003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24168" y="-47625"/>
              <a:ext cx="5400269" cy="569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1"/>
                </a:lnSpc>
                <a:spcBef>
                  <a:spcPct val="0"/>
                </a:spcBef>
              </a:pPr>
              <a:r>
                <a:rPr lang="en-US" sz="2586">
                  <a:solidFill>
                    <a:srgbClr val="8F2824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Rejected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579453"/>
            <a:ext cx="4050202" cy="43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  <a:spcBef>
                <a:spcPct val="0"/>
              </a:spcBef>
            </a:pPr>
            <a:r>
              <a:rPr lang="en-US" sz="2586">
                <a:solidFill>
                  <a:srgbClr val="47A8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79768" y="3443466"/>
            <a:ext cx="6126745" cy="232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2370" indent="-206185" lvl="1">
              <a:lnSpc>
                <a:spcPts val="2674"/>
              </a:lnSpc>
              <a:buFont typeface="Arial"/>
              <a:buChar char="•"/>
            </a:pPr>
            <a:r>
              <a:rPr lang="en-US" b="true" sz="19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Accurate Localization</a:t>
            </a:r>
            <a:r>
              <a:rPr lang="en-US" sz="19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Precise pupil/limbus detection, robust to reflections.</a:t>
            </a:r>
          </a:p>
          <a:p>
            <a:pPr algn="l" marL="412370" indent="-206185" lvl="1">
              <a:lnSpc>
                <a:spcPts val="2674"/>
              </a:lnSpc>
              <a:buFont typeface="Arial"/>
              <a:buChar char="•"/>
            </a:pPr>
            <a:r>
              <a:rPr lang="en-US" b="true" sz="19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Anatomic Limits</a:t>
            </a:r>
            <a:r>
              <a:rPr lang="en-US" sz="19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Circular models inevitably capture eyelids and eyelashes.</a:t>
            </a:r>
          </a:p>
          <a:p>
            <a:pPr algn="l" marL="412370" indent="-206185" lvl="1">
              <a:lnSpc>
                <a:spcPts val="2674"/>
              </a:lnSpc>
              <a:buFont typeface="Arial"/>
              <a:buChar char="•"/>
            </a:pPr>
            <a:r>
              <a:rPr lang="en-US" b="true" sz="19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Masking Required: </a:t>
            </a:r>
            <a:r>
              <a:rPr lang="en-US" sz="19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Circular boundaries include eyelids, making the next masking step crucial.</a:t>
            </a:r>
          </a:p>
          <a:p>
            <a:pPr algn="l">
              <a:lnSpc>
                <a:spcPts val="267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379768" y="6936229"/>
            <a:ext cx="5879532" cy="232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2391" indent="-206196" lvl="1">
              <a:lnSpc>
                <a:spcPts val="2674"/>
              </a:lnSpc>
              <a:buFont typeface="Arial"/>
              <a:buChar char="•"/>
            </a:pPr>
            <a:r>
              <a:rPr lang="en-US" b="true" sz="19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 vs. Metric</a:t>
            </a:r>
            <a:r>
              <a:rPr lang="en-US" sz="19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Visually "ok" images are rejected due to hidden geometric flaws.</a:t>
            </a:r>
          </a:p>
          <a:p>
            <a:pPr algn="l" marL="412391" indent="-206196" lvl="1">
              <a:lnSpc>
                <a:spcPts val="2674"/>
              </a:lnSpc>
              <a:buFont typeface="Arial"/>
              <a:buChar char="•"/>
            </a:pPr>
            <a:r>
              <a:rPr lang="en-US" b="true" sz="19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Offset Errors</a:t>
            </a:r>
            <a:r>
              <a:rPr lang="en-US" sz="19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Centers are severely misaligned (e.g., offset &gt; 20px).</a:t>
            </a:r>
          </a:p>
          <a:p>
            <a:pPr algn="l" marL="412391" indent="-206196" lvl="1">
              <a:lnSpc>
                <a:spcPts val="2674"/>
              </a:lnSpc>
              <a:buFont typeface="Arial"/>
              <a:buChar char="•"/>
            </a:pPr>
            <a:r>
              <a:rPr lang="en-US" b="true" sz="19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91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 Errors</a:t>
            </a:r>
            <a:r>
              <a:rPr lang="en-US" sz="19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Iris-to-pupil ratio exceeds the 3.1 limit, capturing sclera and skin. </a:t>
            </a:r>
          </a:p>
          <a:p>
            <a:pPr algn="l">
              <a:lnSpc>
                <a:spcPts val="26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2940786" y="1679146"/>
            <a:ext cx="5744785" cy="5143500"/>
            <a:chOff x="0" y="0"/>
            <a:chExt cx="1513030" cy="135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13030" cy="1354667"/>
            </a:xfrm>
            <a:custGeom>
              <a:avLst/>
              <a:gdLst/>
              <a:ahLst/>
              <a:cxnLst/>
              <a:rect r="r" b="b" t="t" l="l"/>
              <a:pathLst>
                <a:path h="1354667" w="1513030">
                  <a:moveTo>
                    <a:pt x="0" y="0"/>
                  </a:moveTo>
                  <a:lnTo>
                    <a:pt x="1513030" y="0"/>
                  </a:lnTo>
                  <a:lnTo>
                    <a:pt x="1513030" y="1354667"/>
                  </a:lnTo>
                  <a:lnTo>
                    <a:pt x="0" y="1354667"/>
                  </a:lnTo>
                  <a:close/>
                </a:path>
              </a:pathLst>
            </a:custGeom>
            <a:gradFill rotWithShape="true">
              <a:gsLst>
                <a:gs pos="0">
                  <a:srgbClr val="EEEEEE">
                    <a:alpha val="100000"/>
                  </a:srgbClr>
                </a:gs>
                <a:gs pos="100000">
                  <a:srgbClr val="EEEEEE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13030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20248" y="3980955"/>
            <a:ext cx="4051670" cy="116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7"/>
              </a:lnSpc>
            </a:pPr>
            <a:r>
              <a:rPr lang="en-US" sz="335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strict subset</a:t>
            </a:r>
          </a:p>
          <a:p>
            <a:pPr algn="ctr">
              <a:lnSpc>
                <a:spcPts val="4697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664251" y="2103164"/>
            <a:ext cx="10595049" cy="603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6063" indent="-308032" lvl="1">
              <a:lnSpc>
                <a:spcPts val="3994"/>
              </a:lnSpc>
              <a:buFont typeface="Arial"/>
              <a:buChar char="•"/>
            </a:pP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Visually acceptable boundaries often hide geometric flaws</a:t>
            </a:r>
          </a:p>
          <a:p>
            <a:pPr algn="l">
              <a:lnSpc>
                <a:spcPts val="3994"/>
              </a:lnSpc>
            </a:pPr>
          </a:p>
          <a:p>
            <a:pPr algn="l" marL="616063" indent="-308032" lvl="1">
              <a:lnSpc>
                <a:spcPts val="3994"/>
              </a:lnSpc>
              <a:buFont typeface="Arial"/>
              <a:buChar char="•"/>
            </a:pP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Flawed boundaries cause the Rubber Sheet model to unwrap skin, eyelashes, and sclera instead of the iris. </a:t>
            </a:r>
          </a:p>
          <a:p>
            <a:pPr algn="l">
              <a:lnSpc>
                <a:spcPts val="3994"/>
              </a:lnSpc>
            </a:pPr>
          </a:p>
          <a:p>
            <a:pPr algn="l" marL="616063" indent="-308032" lvl="1">
              <a:lnSpc>
                <a:spcPts val="3994"/>
              </a:lnSpc>
              <a:buFont typeface="Arial"/>
              <a:buChar char="•"/>
            </a:pP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Processing non-iris texture artificially inflates genuine Hamming Distances, invalidating the twin analysis. </a:t>
            </a:r>
          </a:p>
          <a:p>
            <a:pPr algn="l">
              <a:lnSpc>
                <a:spcPts val="3994"/>
              </a:lnSpc>
            </a:pPr>
          </a:p>
          <a:p>
            <a:pPr algn="l" marL="616063" indent="-308032" lvl="1">
              <a:lnSpc>
                <a:spcPts val="3994"/>
              </a:lnSpc>
              <a:buFont typeface="Arial"/>
              <a:buChar char="•"/>
            </a:pP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prioritized strict biometric integrity over dataset size, retaining only the most reliable </a:t>
            </a:r>
            <a:r>
              <a:rPr lang="en-US" b="true" sz="28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46.05%</a:t>
            </a: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images. </a:t>
            </a:r>
          </a:p>
          <a:p>
            <a:pPr algn="l">
              <a:lnSpc>
                <a:spcPts val="3994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155954" y="3600450"/>
            <a:ext cx="4980258" cy="3086100"/>
            <a:chOff x="0" y="0"/>
            <a:chExt cx="131167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1673" cy="812800"/>
            </a:xfrm>
            <a:custGeom>
              <a:avLst/>
              <a:gdLst/>
              <a:ahLst/>
              <a:cxnLst/>
              <a:rect r="r" b="b" t="t" l="l"/>
              <a:pathLst>
                <a:path h="812800" w="1311673">
                  <a:moveTo>
                    <a:pt x="0" y="0"/>
                  </a:moveTo>
                  <a:lnTo>
                    <a:pt x="1311673" y="0"/>
                  </a:lnTo>
                  <a:lnTo>
                    <a:pt x="1311673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31167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4779" y="4676948"/>
            <a:ext cx="5622608" cy="199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4"/>
              </a:lnSpc>
            </a:pP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1465 images</a:t>
            </a:r>
          </a:p>
          <a:p>
            <a:pPr algn="ctr">
              <a:lnSpc>
                <a:spcPts val="3994"/>
              </a:lnSpc>
            </a:pP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99 families</a:t>
            </a:r>
          </a:p>
          <a:p>
            <a:pPr algn="ctr">
              <a:lnSpc>
                <a:spcPts val="3994"/>
              </a:lnSpc>
            </a:pPr>
            <a:r>
              <a:rPr lang="en-US" sz="28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313 iris identities</a:t>
            </a:r>
          </a:p>
          <a:p>
            <a:pPr algn="ctr">
              <a:lnSpc>
                <a:spcPts val="399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43269" y="5563935"/>
            <a:ext cx="3771734" cy="3694365"/>
          </a:xfrm>
          <a:custGeom>
            <a:avLst/>
            <a:gdLst/>
            <a:ahLst/>
            <a:cxnLst/>
            <a:rect r="r" b="b" t="t" l="l"/>
            <a:pathLst>
              <a:path h="3694365" w="3771734">
                <a:moveTo>
                  <a:pt x="0" y="0"/>
                </a:moveTo>
                <a:lnTo>
                  <a:pt x="3771734" y="0"/>
                </a:lnTo>
                <a:lnTo>
                  <a:pt x="3771734" y="3694365"/>
                </a:lnTo>
                <a:lnTo>
                  <a:pt x="0" y="3694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15003" y="5563935"/>
            <a:ext cx="3676939" cy="3694365"/>
          </a:xfrm>
          <a:custGeom>
            <a:avLst/>
            <a:gdLst/>
            <a:ahLst/>
            <a:cxnLst/>
            <a:rect r="r" b="b" t="t" l="l"/>
            <a:pathLst>
              <a:path h="3694365" w="3676939">
                <a:moveTo>
                  <a:pt x="0" y="0"/>
                </a:moveTo>
                <a:lnTo>
                  <a:pt x="3676938" y="0"/>
                </a:lnTo>
                <a:lnTo>
                  <a:pt x="3676938" y="3694365"/>
                </a:lnTo>
                <a:lnTo>
                  <a:pt x="0" y="3694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96059" y="5563935"/>
            <a:ext cx="4647210" cy="3694365"/>
          </a:xfrm>
          <a:custGeom>
            <a:avLst/>
            <a:gdLst/>
            <a:ahLst/>
            <a:cxnLst/>
            <a:rect r="r" b="b" t="t" l="l"/>
            <a:pathLst>
              <a:path h="3694365" w="4647210">
                <a:moveTo>
                  <a:pt x="0" y="0"/>
                </a:moveTo>
                <a:lnTo>
                  <a:pt x="4647210" y="0"/>
                </a:lnTo>
                <a:lnTo>
                  <a:pt x="4647210" y="3694365"/>
                </a:lnTo>
                <a:lnTo>
                  <a:pt x="0" y="3694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765289"/>
            <a:ext cx="16783905" cy="3243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7258" indent="-223629" lvl="1">
              <a:lnSpc>
                <a:spcPts val="2900"/>
              </a:lnSpc>
              <a:buFont typeface="Arial"/>
              <a:buChar char="•"/>
            </a:pPr>
            <a:r>
              <a:rPr lang="en-US" b="true" sz="20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Rubber Sheet Model</a:t>
            </a:r>
            <a:r>
              <a:rPr lang="en-US" sz="20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Converts the annular iris region into a fixed-size rectangular strip (64 × 512 pixels). </a:t>
            </a:r>
          </a:p>
          <a:p>
            <a:pPr algn="l">
              <a:lnSpc>
                <a:spcPts val="2900"/>
              </a:lnSpc>
            </a:pPr>
          </a:p>
          <a:p>
            <a:pPr algn="l" marL="447258" indent="-223629" lvl="1">
              <a:lnSpc>
                <a:spcPts val="2900"/>
              </a:lnSpc>
              <a:buFont typeface="Arial"/>
              <a:buChar char="•"/>
            </a:pPr>
            <a:r>
              <a:rPr lang="en-US" b="true" sz="20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Conservative v3 Mask</a:t>
            </a:r>
            <a:r>
              <a:rPr lang="en-US" sz="20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Discards top/bottom areas and keeps only reliable lateral iris regions to avoid eyelids and eyelashes.</a:t>
            </a:r>
          </a:p>
          <a:p>
            <a:pPr algn="l">
              <a:lnSpc>
                <a:spcPts val="2900"/>
              </a:lnSpc>
            </a:pPr>
          </a:p>
          <a:p>
            <a:pPr algn="l" marL="447258" indent="-223629" lvl="1">
              <a:lnSpc>
                <a:spcPts val="2900"/>
              </a:lnSpc>
              <a:buFont typeface="Arial"/>
              <a:buChar char="•"/>
            </a:pPr>
            <a:r>
              <a:rPr lang="en-US" b="true" sz="20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Mean Total Valid Ratio</a:t>
            </a:r>
            <a:r>
              <a:rPr lang="en-US" sz="20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0.2365 (we use </a:t>
            </a:r>
            <a:r>
              <a:rPr lang="en-US" b="true" sz="20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~23%</a:t>
            </a:r>
            <a:r>
              <a:rPr lang="en-US" sz="20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the normalized strip). </a:t>
            </a:r>
          </a:p>
          <a:p>
            <a:pPr algn="l" marL="894516" indent="-298172" lvl="2">
              <a:lnSpc>
                <a:spcPts val="2900"/>
              </a:lnSpc>
              <a:buFont typeface="Arial"/>
              <a:buChar char="⚬"/>
            </a:pPr>
            <a:r>
              <a:rPr lang="en-US" sz="2071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Design Choice: Prioritizing reliable iris regions over raw coverage to minimize noise.</a:t>
            </a:r>
          </a:p>
          <a:p>
            <a:pPr algn="l">
              <a:lnSpc>
                <a:spcPts val="2900"/>
              </a:lnSpc>
            </a:pPr>
          </a:p>
          <a:p>
            <a:pPr algn="l" marL="447258" indent="-223629" lvl="1">
              <a:lnSpc>
                <a:spcPts val="2900"/>
              </a:lnSpc>
              <a:buFont typeface="Arial"/>
              <a:buChar char="•"/>
            </a:pPr>
            <a:r>
              <a:rPr lang="en-US" b="true" sz="20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Mean ROI Valid Ratio</a:t>
            </a:r>
            <a:r>
              <a:rPr lang="en-US" sz="20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</a:p>
          <a:p>
            <a:pPr algn="l">
              <a:lnSpc>
                <a:spcPts val="2900"/>
              </a:lnSpc>
              <a:spcBef>
                <a:spcPct val="0"/>
              </a:spcBef>
            </a:pPr>
            <a:r>
              <a:rPr lang="en-US" sz="20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0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0.9116 (ensuring high purity in the selected regions).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8104" y="562785"/>
            <a:ext cx="11963380" cy="285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40"/>
              </a:lnSpc>
            </a:pPr>
            <a:r>
              <a:rPr lang="en-US" sz="54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Normalization and Masking</a:t>
            </a:r>
          </a:p>
          <a:p>
            <a:pPr algn="l">
              <a:lnSpc>
                <a:spcPts val="7640"/>
              </a:lnSpc>
              <a:spcBef>
                <a:spcPct val="0"/>
              </a:spcBef>
            </a:pPr>
          </a:p>
          <a:p>
            <a:pPr algn="ctr">
              <a:lnSpc>
                <a:spcPts val="7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47883" y="6503711"/>
            <a:ext cx="5446768" cy="1785653"/>
            <a:chOff x="0" y="0"/>
            <a:chExt cx="7262357" cy="23808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62357" cy="1205623"/>
            </a:xfrm>
            <a:custGeom>
              <a:avLst/>
              <a:gdLst/>
              <a:ahLst/>
              <a:cxnLst/>
              <a:rect r="r" b="b" t="t" l="l"/>
              <a:pathLst>
                <a:path h="1205623" w="7262357">
                  <a:moveTo>
                    <a:pt x="0" y="0"/>
                  </a:moveTo>
                  <a:lnTo>
                    <a:pt x="7262357" y="0"/>
                  </a:lnTo>
                  <a:lnTo>
                    <a:pt x="7262357" y="1205623"/>
                  </a:lnTo>
                  <a:lnTo>
                    <a:pt x="0" y="1205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3017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1175481"/>
              <a:ext cx="7262357" cy="1205389"/>
            </a:xfrm>
            <a:custGeom>
              <a:avLst/>
              <a:gdLst/>
              <a:ahLst/>
              <a:cxnLst/>
              <a:rect r="r" b="b" t="t" l="l"/>
              <a:pathLst>
                <a:path h="1205389" w="7262357">
                  <a:moveTo>
                    <a:pt x="0" y="0"/>
                  </a:moveTo>
                  <a:lnTo>
                    <a:pt x="7262357" y="0"/>
                  </a:lnTo>
                  <a:lnTo>
                    <a:pt x="7262357" y="1205389"/>
                  </a:lnTo>
                  <a:lnTo>
                    <a:pt x="0" y="1205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2992" b="0"/>
              </a:stretch>
            </a:blipFill>
          </p:spPr>
        </p:sp>
      </p:grpSp>
      <p:graphicFrame>
        <p:nvGraphicFramePr>
          <p:cNvPr name="Object 5" id="5"/>
          <p:cNvGraphicFramePr/>
          <p:nvPr/>
        </p:nvGraphicFramePr>
        <p:xfrm>
          <a:off x="10173648" y="3281637"/>
          <a:ext cx="6837450" cy="3252264"/>
        </p:xfrm>
        <a:graphic>
          <a:graphicData uri="http://schemas.openxmlformats.org/presentationml/2006/ole">
            <p:oleObj imgW="8191500" imgH="46101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535356" y="1567307"/>
            <a:ext cx="15217288" cy="103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  <a:spcBef>
                <a:spcPct val="0"/>
              </a:spcBef>
            </a:pPr>
            <a:r>
              <a:rPr lang="en-US" sz="60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Gabor-style Binary Feature Extraction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09650"/>
            <a:ext cx="26173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69407" y="3425664"/>
            <a:ext cx="7302159" cy="505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685" indent="-237843" lvl="1">
              <a:lnSpc>
                <a:spcPts val="3084"/>
              </a:lnSpc>
              <a:buFont typeface="Arial"/>
              <a:buChar char="•"/>
            </a:pPr>
            <a:r>
              <a:rPr lang="en-US" b="true" sz="22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</a:t>
            </a: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normalized iris strips + masks</a:t>
            </a:r>
          </a:p>
          <a:p>
            <a:pPr algn="l">
              <a:lnSpc>
                <a:spcPts val="3084"/>
              </a:lnSpc>
            </a:pPr>
          </a:p>
          <a:p>
            <a:pPr algn="l" marL="475685" indent="-237843" lvl="1">
              <a:lnSpc>
                <a:spcPts val="3084"/>
              </a:lnSpc>
              <a:buFont typeface="Arial"/>
              <a:buChar char="•"/>
            </a:pPr>
            <a:r>
              <a:rPr lang="en-US" b="true" sz="22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Four Gabor-style filters</a:t>
            </a: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l" marL="951371" indent="-317124" lvl="2">
              <a:lnSpc>
                <a:spcPts val="3084"/>
              </a:lnSpc>
              <a:buFont typeface="Arial"/>
              <a:buChar char="⚬"/>
            </a:pP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0° / 90°</a:t>
            </a:r>
          </a:p>
          <a:p>
            <a:pPr algn="l" marL="951371" indent="-317124" lvl="2">
              <a:lnSpc>
                <a:spcPts val="3084"/>
              </a:lnSpc>
              <a:buFont typeface="Arial"/>
              <a:buChar char="⚬"/>
            </a:pP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avelength 8 / 16</a:t>
            </a:r>
          </a:p>
          <a:p>
            <a:pPr algn="l">
              <a:lnSpc>
                <a:spcPts val="3084"/>
              </a:lnSpc>
            </a:pPr>
          </a:p>
          <a:p>
            <a:pPr algn="l" marL="475685" indent="-237843" lvl="1">
              <a:lnSpc>
                <a:spcPts val="3084"/>
              </a:lnSpc>
              <a:buFont typeface="Arial"/>
              <a:buChar char="•"/>
            </a:pPr>
            <a:r>
              <a:rPr lang="en-US" b="true" sz="22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IrisCode Generation: </a:t>
            </a: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Binary code generated from filter response sign</a:t>
            </a:r>
            <a:r>
              <a:rPr lang="en-US" b="true" sz="22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>
              <a:lnSpc>
                <a:spcPts val="3084"/>
              </a:lnSpc>
            </a:pPr>
          </a:p>
          <a:p>
            <a:pPr algn="l" marL="475685" indent="-237843" lvl="1">
              <a:lnSpc>
                <a:spcPts val="3084"/>
              </a:lnSpc>
              <a:buFont typeface="Arial"/>
              <a:buChar char="•"/>
            </a:pPr>
            <a:r>
              <a:rPr lang="en-US" b="true" sz="22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Mask</a:t>
            </a: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propagated to feature level.</a:t>
            </a:r>
          </a:p>
          <a:p>
            <a:pPr algn="l">
              <a:lnSpc>
                <a:spcPts val="3084"/>
              </a:lnSpc>
            </a:pPr>
          </a:p>
          <a:p>
            <a:pPr algn="l" marL="475685" indent="-237843" lvl="1">
              <a:lnSpc>
                <a:spcPts val="3084"/>
              </a:lnSpc>
              <a:spcBef>
                <a:spcPct val="0"/>
              </a:spcBef>
              <a:buFont typeface="Arial"/>
              <a:buChar char="•"/>
            </a:pP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</a:t>
            </a:r>
            <a:r>
              <a:rPr lang="en-US" b="true" sz="22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1465</a:t>
            </a: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images successfully converted.</a:t>
            </a:r>
          </a:p>
          <a:p>
            <a:pPr algn="l">
              <a:lnSpc>
                <a:spcPts val="308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2442864" y="2432368"/>
          <a:ext cx="15891999" cy="5913299"/>
        </p:xfrm>
        <a:graphic>
          <a:graphicData uri="http://schemas.openxmlformats.org/presentationml/2006/ole">
            <p:oleObj imgW="19062700" imgH="9093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925436" y="914400"/>
            <a:ext cx="6437129" cy="103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80"/>
              </a:lnSpc>
              <a:spcBef>
                <a:spcPct val="0"/>
              </a:spcBef>
            </a:pPr>
            <a:r>
              <a:rPr lang="en-US" sz="605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Pair Generation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67104" y="7168592"/>
            <a:ext cx="9553792" cy="232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5685" indent="-237843" lvl="1">
              <a:lnSpc>
                <a:spcPts val="3084"/>
              </a:lnSpc>
              <a:buFont typeface="Arial"/>
              <a:buChar char="•"/>
            </a:pPr>
            <a:r>
              <a:rPr lang="en-US" b="true" sz="22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</a:t>
            </a: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1465 feature templates. </a:t>
            </a:r>
          </a:p>
          <a:p>
            <a:pPr algn="l">
              <a:lnSpc>
                <a:spcPts val="3084"/>
              </a:lnSpc>
            </a:pPr>
          </a:p>
          <a:p>
            <a:pPr algn="l" marL="475685" indent="-237843" lvl="1">
              <a:lnSpc>
                <a:spcPts val="3084"/>
              </a:lnSpc>
              <a:buFont typeface="Arial"/>
              <a:buChar char="•"/>
            </a:pPr>
            <a:r>
              <a:rPr lang="en-US" b="true" sz="22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2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ombinatorial Explosion</a:t>
            </a: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1,072,380 total possible unordered pairs. </a:t>
            </a:r>
          </a:p>
          <a:p>
            <a:pPr algn="l">
              <a:lnSpc>
                <a:spcPts val="3084"/>
              </a:lnSpc>
            </a:pPr>
          </a:p>
          <a:p>
            <a:pPr algn="l" marL="475685" indent="-237843" lvl="1">
              <a:lnSpc>
                <a:spcPts val="308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Selected Protocol</a:t>
            </a:r>
            <a:r>
              <a:rPr lang="en-US" sz="22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63,389 total pairs evaluated. </a:t>
            </a:r>
          </a:p>
          <a:p>
            <a:pPr algn="l">
              <a:lnSpc>
                <a:spcPts val="308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26173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33448"/>
            <a:ext cx="15139701" cy="95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5"/>
              </a:lnSpc>
              <a:spcBef>
                <a:spcPct val="0"/>
              </a:spcBef>
            </a:pPr>
            <a:r>
              <a:rPr lang="en-US" sz="56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Masked Hamming Distance Matching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67240" y="3004747"/>
            <a:ext cx="6300833" cy="437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125" indent="-244063" lvl="1">
              <a:lnSpc>
                <a:spcPts val="3165"/>
              </a:lnSpc>
              <a:buFont typeface="Arial"/>
              <a:buChar char="•"/>
            </a:pPr>
            <a:r>
              <a:rPr lang="en-US" b="true" sz="22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Mask Intersection</a:t>
            </a:r>
            <a:r>
              <a:rPr lang="en-US" sz="22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 bit is compared only if it is valid in both mask A and mask B. </a:t>
            </a:r>
          </a:p>
          <a:p>
            <a:pPr algn="l">
              <a:lnSpc>
                <a:spcPts val="3165"/>
              </a:lnSpc>
            </a:pPr>
          </a:p>
          <a:p>
            <a:pPr algn="l" marL="488125" indent="-244063" lvl="1">
              <a:lnSpc>
                <a:spcPts val="3165"/>
              </a:lnSpc>
              <a:buFont typeface="Arial"/>
              <a:buChar char="•"/>
            </a:pPr>
            <a:r>
              <a:rPr lang="en-US" b="true" sz="22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Distance Metric</a:t>
            </a:r>
            <a:r>
              <a:rPr lang="en-US" sz="22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Measures the fraction of disagreeing bits </a:t>
            </a:r>
            <a:r>
              <a:rPr lang="en-US" sz="226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(Lower HD = higher similarity)</a:t>
            </a:r>
            <a:r>
              <a:rPr lang="en-US" sz="22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</a:p>
          <a:p>
            <a:pPr algn="l">
              <a:lnSpc>
                <a:spcPts val="3165"/>
              </a:lnSpc>
            </a:pPr>
          </a:p>
          <a:p>
            <a:pPr algn="l" marL="488125" indent="-244063" lvl="1">
              <a:lnSpc>
                <a:spcPts val="316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b="true" sz="226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ngular Shift Compensation</a:t>
            </a:r>
            <a:r>
              <a:rPr lang="en-US" sz="22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Accounts for eye/head rotation by testing multiple angular shifts:</a:t>
            </a:r>
          </a:p>
          <a:p>
            <a:pPr algn="l">
              <a:lnSpc>
                <a:spcPts val="3165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639138" y="7319808"/>
            <a:ext cx="3628934" cy="45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7"/>
              </a:lnSpc>
              <a:spcBef>
                <a:spcPct val="0"/>
              </a:spcBef>
            </a:pPr>
            <a:r>
              <a:rPr lang="en-US" sz="26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∈ {−16,−14,...,14,16}.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67240" y="8352515"/>
            <a:ext cx="7672750" cy="90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002" indent="-279501" lvl="1">
              <a:lnSpc>
                <a:spcPts val="3624"/>
              </a:lnSpc>
              <a:buFont typeface="Arial"/>
              <a:buChar char="•"/>
            </a:pPr>
            <a:r>
              <a:rPr lang="en-US" b="true" sz="25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Score</a:t>
            </a:r>
            <a:r>
              <a:rPr lang="en-US" sz="2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minimum Hamming Distance obtained </a:t>
            </a:r>
            <a:r>
              <a:rPr lang="en-US" sz="2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oss all shifts.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180413" y="4809103"/>
            <a:ext cx="3447566" cy="4449197"/>
            <a:chOff x="0" y="0"/>
            <a:chExt cx="4596755" cy="593226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48131" y="0"/>
              <a:ext cx="1929200" cy="1361348"/>
              <a:chOff x="0" y="0"/>
              <a:chExt cx="632457" cy="44629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32457" cy="446296"/>
              </a:xfrm>
              <a:custGeom>
                <a:avLst/>
                <a:gdLst/>
                <a:ahLst/>
                <a:cxnLst/>
                <a:rect r="r" b="b" t="t" l="l"/>
                <a:pathLst>
                  <a:path h="446296" w="632457">
                    <a:moveTo>
                      <a:pt x="164423" y="0"/>
                    </a:moveTo>
                    <a:lnTo>
                      <a:pt x="468034" y="0"/>
                    </a:lnTo>
                    <a:cubicBezTo>
                      <a:pt x="558842" y="0"/>
                      <a:pt x="632457" y="73615"/>
                      <a:pt x="632457" y="164423"/>
                    </a:cubicBezTo>
                    <a:lnTo>
                      <a:pt x="632457" y="281873"/>
                    </a:lnTo>
                    <a:cubicBezTo>
                      <a:pt x="632457" y="325481"/>
                      <a:pt x="615134" y="367302"/>
                      <a:pt x="584298" y="398138"/>
                    </a:cubicBezTo>
                    <a:cubicBezTo>
                      <a:pt x="553463" y="428973"/>
                      <a:pt x="511642" y="446296"/>
                      <a:pt x="468034" y="446296"/>
                    </a:cubicBezTo>
                    <a:lnTo>
                      <a:pt x="164423" y="446296"/>
                    </a:lnTo>
                    <a:cubicBezTo>
                      <a:pt x="73615" y="446296"/>
                      <a:pt x="0" y="372681"/>
                      <a:pt x="0" y="281873"/>
                    </a:cubicBezTo>
                    <a:lnTo>
                      <a:pt x="0" y="164423"/>
                    </a:lnTo>
                    <a:cubicBezTo>
                      <a:pt x="0" y="73615"/>
                      <a:pt x="73615" y="0"/>
                      <a:pt x="164423" y="0"/>
                    </a:cubicBezTo>
                    <a:close/>
                  </a:path>
                </a:pathLst>
              </a:custGeom>
              <a:solidFill>
                <a:srgbClr val="F5DBF6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9050"/>
                <a:ext cx="632457" cy="4653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2619424" y="26618"/>
              <a:ext cx="1929200" cy="1361348"/>
              <a:chOff x="0" y="0"/>
              <a:chExt cx="632457" cy="44629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32457" cy="446296"/>
              </a:xfrm>
              <a:custGeom>
                <a:avLst/>
                <a:gdLst/>
                <a:ahLst/>
                <a:cxnLst/>
                <a:rect r="r" b="b" t="t" l="l"/>
                <a:pathLst>
                  <a:path h="446296" w="632457">
                    <a:moveTo>
                      <a:pt x="164423" y="0"/>
                    </a:moveTo>
                    <a:lnTo>
                      <a:pt x="468034" y="0"/>
                    </a:lnTo>
                    <a:cubicBezTo>
                      <a:pt x="558842" y="0"/>
                      <a:pt x="632457" y="73615"/>
                      <a:pt x="632457" y="164423"/>
                    </a:cubicBezTo>
                    <a:lnTo>
                      <a:pt x="632457" y="281873"/>
                    </a:lnTo>
                    <a:cubicBezTo>
                      <a:pt x="632457" y="325481"/>
                      <a:pt x="615134" y="367302"/>
                      <a:pt x="584298" y="398138"/>
                    </a:cubicBezTo>
                    <a:cubicBezTo>
                      <a:pt x="553463" y="428973"/>
                      <a:pt x="511642" y="446296"/>
                      <a:pt x="468034" y="446296"/>
                    </a:cubicBezTo>
                    <a:lnTo>
                      <a:pt x="164423" y="446296"/>
                    </a:lnTo>
                    <a:cubicBezTo>
                      <a:pt x="73615" y="446296"/>
                      <a:pt x="0" y="372681"/>
                      <a:pt x="0" y="281873"/>
                    </a:cubicBezTo>
                    <a:lnTo>
                      <a:pt x="0" y="164423"/>
                    </a:lnTo>
                    <a:cubicBezTo>
                      <a:pt x="0" y="73615"/>
                      <a:pt x="73615" y="0"/>
                      <a:pt x="164423" y="0"/>
                    </a:cubicBezTo>
                    <a:close/>
                  </a:path>
                </a:pathLst>
              </a:custGeom>
              <a:solidFill>
                <a:srgbClr val="F5DBF6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632457" cy="4653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640746" y="2150600"/>
              <a:ext cx="3315262" cy="750409"/>
              <a:chOff x="0" y="0"/>
              <a:chExt cx="1086855" cy="24600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86855" cy="246009"/>
              </a:xfrm>
              <a:custGeom>
                <a:avLst/>
                <a:gdLst/>
                <a:ahLst/>
                <a:cxnLst/>
                <a:rect r="r" b="b" t="t" l="l"/>
                <a:pathLst>
                  <a:path h="246009" w="1086855">
                    <a:moveTo>
                      <a:pt x="95680" y="0"/>
                    </a:moveTo>
                    <a:lnTo>
                      <a:pt x="991175" y="0"/>
                    </a:lnTo>
                    <a:cubicBezTo>
                      <a:pt x="1016551" y="0"/>
                      <a:pt x="1040887" y="10081"/>
                      <a:pt x="1058831" y="28024"/>
                    </a:cubicBezTo>
                    <a:cubicBezTo>
                      <a:pt x="1076774" y="45967"/>
                      <a:pt x="1086855" y="70304"/>
                      <a:pt x="1086855" y="95680"/>
                    </a:cubicBezTo>
                    <a:lnTo>
                      <a:pt x="1086855" y="150329"/>
                    </a:lnTo>
                    <a:cubicBezTo>
                      <a:pt x="1086855" y="175705"/>
                      <a:pt x="1076774" y="200042"/>
                      <a:pt x="1058831" y="217985"/>
                    </a:cubicBezTo>
                    <a:cubicBezTo>
                      <a:pt x="1040887" y="235929"/>
                      <a:pt x="1016551" y="246009"/>
                      <a:pt x="991175" y="246009"/>
                    </a:cubicBezTo>
                    <a:lnTo>
                      <a:pt x="95680" y="246009"/>
                    </a:lnTo>
                    <a:cubicBezTo>
                      <a:pt x="70304" y="246009"/>
                      <a:pt x="45967" y="235929"/>
                      <a:pt x="28024" y="217985"/>
                    </a:cubicBezTo>
                    <a:cubicBezTo>
                      <a:pt x="10081" y="200042"/>
                      <a:pt x="0" y="175705"/>
                      <a:pt x="0" y="150329"/>
                    </a:cubicBezTo>
                    <a:lnTo>
                      <a:pt x="0" y="95680"/>
                    </a:lnTo>
                    <a:cubicBezTo>
                      <a:pt x="0" y="70304"/>
                      <a:pt x="10081" y="45967"/>
                      <a:pt x="28024" y="28024"/>
                    </a:cubicBezTo>
                    <a:cubicBezTo>
                      <a:pt x="45967" y="10081"/>
                      <a:pt x="70304" y="0"/>
                      <a:pt x="95680" y="0"/>
                    </a:cubicBezTo>
                    <a:close/>
                  </a:path>
                </a:pathLst>
              </a:custGeom>
              <a:solidFill>
                <a:srgbClr val="ECC0E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086855" cy="265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914837" y="2320264"/>
              <a:ext cx="2767081" cy="382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50"/>
                </a:lnSpc>
                <a:spcBef>
                  <a:spcPct val="0"/>
                </a:spcBef>
              </a:pPr>
              <a:r>
                <a:rPr lang="en-US" b="true" sz="17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Common valid Bits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640746" y="3666227"/>
              <a:ext cx="3315262" cy="750409"/>
              <a:chOff x="0" y="0"/>
              <a:chExt cx="1086855" cy="24600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86855" cy="246009"/>
              </a:xfrm>
              <a:custGeom>
                <a:avLst/>
                <a:gdLst/>
                <a:ahLst/>
                <a:cxnLst/>
                <a:rect r="r" b="b" t="t" l="l"/>
                <a:pathLst>
                  <a:path h="246009" w="1086855">
                    <a:moveTo>
                      <a:pt x="95680" y="0"/>
                    </a:moveTo>
                    <a:lnTo>
                      <a:pt x="991175" y="0"/>
                    </a:lnTo>
                    <a:cubicBezTo>
                      <a:pt x="1016551" y="0"/>
                      <a:pt x="1040887" y="10081"/>
                      <a:pt x="1058831" y="28024"/>
                    </a:cubicBezTo>
                    <a:cubicBezTo>
                      <a:pt x="1076774" y="45967"/>
                      <a:pt x="1086855" y="70304"/>
                      <a:pt x="1086855" y="95680"/>
                    </a:cubicBezTo>
                    <a:lnTo>
                      <a:pt x="1086855" y="150329"/>
                    </a:lnTo>
                    <a:cubicBezTo>
                      <a:pt x="1086855" y="175705"/>
                      <a:pt x="1076774" y="200042"/>
                      <a:pt x="1058831" y="217985"/>
                    </a:cubicBezTo>
                    <a:cubicBezTo>
                      <a:pt x="1040887" y="235929"/>
                      <a:pt x="1016551" y="246009"/>
                      <a:pt x="991175" y="246009"/>
                    </a:cubicBezTo>
                    <a:lnTo>
                      <a:pt x="95680" y="246009"/>
                    </a:lnTo>
                    <a:cubicBezTo>
                      <a:pt x="70304" y="246009"/>
                      <a:pt x="45967" y="235929"/>
                      <a:pt x="28024" y="217985"/>
                    </a:cubicBezTo>
                    <a:cubicBezTo>
                      <a:pt x="10081" y="200042"/>
                      <a:pt x="0" y="175705"/>
                      <a:pt x="0" y="150329"/>
                    </a:cubicBezTo>
                    <a:lnTo>
                      <a:pt x="0" y="95680"/>
                    </a:lnTo>
                    <a:cubicBezTo>
                      <a:pt x="0" y="70304"/>
                      <a:pt x="10081" y="45967"/>
                      <a:pt x="28024" y="28024"/>
                    </a:cubicBezTo>
                    <a:cubicBezTo>
                      <a:pt x="45967" y="10081"/>
                      <a:pt x="70304" y="0"/>
                      <a:pt x="95680" y="0"/>
                    </a:cubicBezTo>
                    <a:close/>
                  </a:path>
                </a:pathLst>
              </a:custGeom>
              <a:solidFill>
                <a:srgbClr val="EEB2E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1086855" cy="265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5181853"/>
              <a:ext cx="4596755" cy="750409"/>
              <a:chOff x="0" y="0"/>
              <a:chExt cx="1506971" cy="24600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506971" cy="246009"/>
              </a:xfrm>
              <a:custGeom>
                <a:avLst/>
                <a:gdLst/>
                <a:ahLst/>
                <a:cxnLst/>
                <a:rect r="r" b="b" t="t" l="l"/>
                <a:pathLst>
                  <a:path h="246009" w="1506971">
                    <a:moveTo>
                      <a:pt x="69006" y="0"/>
                    </a:moveTo>
                    <a:lnTo>
                      <a:pt x="1437965" y="0"/>
                    </a:lnTo>
                    <a:cubicBezTo>
                      <a:pt x="1456267" y="0"/>
                      <a:pt x="1473819" y="7270"/>
                      <a:pt x="1486760" y="20211"/>
                    </a:cubicBezTo>
                    <a:cubicBezTo>
                      <a:pt x="1499701" y="33153"/>
                      <a:pt x="1506971" y="50705"/>
                      <a:pt x="1506971" y="69006"/>
                    </a:cubicBezTo>
                    <a:lnTo>
                      <a:pt x="1506971" y="177003"/>
                    </a:lnTo>
                    <a:cubicBezTo>
                      <a:pt x="1506971" y="215114"/>
                      <a:pt x="1476076" y="246009"/>
                      <a:pt x="1437965" y="246009"/>
                    </a:cubicBezTo>
                    <a:lnTo>
                      <a:pt x="69006" y="246009"/>
                    </a:lnTo>
                    <a:cubicBezTo>
                      <a:pt x="50705" y="246009"/>
                      <a:pt x="33153" y="238739"/>
                      <a:pt x="20211" y="225798"/>
                    </a:cubicBezTo>
                    <a:cubicBezTo>
                      <a:pt x="7270" y="212857"/>
                      <a:pt x="0" y="195305"/>
                      <a:pt x="0" y="177003"/>
                    </a:cubicBezTo>
                    <a:lnTo>
                      <a:pt x="0" y="69006"/>
                    </a:lnTo>
                    <a:cubicBezTo>
                      <a:pt x="0" y="50705"/>
                      <a:pt x="7270" y="33153"/>
                      <a:pt x="20211" y="20211"/>
                    </a:cubicBezTo>
                    <a:cubicBezTo>
                      <a:pt x="33153" y="7270"/>
                      <a:pt x="50705" y="0"/>
                      <a:pt x="69006" y="0"/>
                    </a:cubicBezTo>
                    <a:close/>
                  </a:path>
                </a:pathLst>
              </a:custGeom>
              <a:solidFill>
                <a:srgbClr val="FD9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1506971" cy="2650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89678" y="5351517"/>
              <a:ext cx="4417399" cy="382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0"/>
                </a:lnSpc>
                <a:spcBef>
                  <a:spcPct val="0"/>
                </a:spcBef>
              </a:pPr>
              <a:r>
                <a:rPr lang="en-US" b="true" sz="17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Best over angular shifts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5400000">
              <a:off x="2005157" y="1451592"/>
              <a:ext cx="586441" cy="405953"/>
              <a:chOff x="0" y="0"/>
              <a:chExt cx="812800" cy="56264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562646"/>
              </a:xfrm>
              <a:custGeom>
                <a:avLst/>
                <a:gdLst/>
                <a:ahLst/>
                <a:cxnLst/>
                <a:rect r="r" b="b" t="t" l="l"/>
                <a:pathLst>
                  <a:path h="562646" w="812800">
                    <a:moveTo>
                      <a:pt x="812800" y="281323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359446"/>
                    </a:lnTo>
                    <a:lnTo>
                      <a:pt x="406400" y="359446"/>
                    </a:lnTo>
                    <a:lnTo>
                      <a:pt x="406400" y="562646"/>
                    </a:lnTo>
                    <a:lnTo>
                      <a:pt x="812800" y="281323"/>
                    </a:lnTo>
                    <a:close/>
                  </a:path>
                </a:pathLst>
              </a:custGeom>
              <a:solidFill>
                <a:srgbClr val="1F1F1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184150"/>
                <a:ext cx="711200" cy="1752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72094" y="268524"/>
              <a:ext cx="1081273" cy="795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50"/>
                </a:lnSpc>
              </a:pPr>
              <a:r>
                <a:rPr lang="en-US" sz="175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Code A</a:t>
              </a:r>
            </a:p>
            <a:p>
              <a:pPr algn="l">
                <a:lnSpc>
                  <a:spcPts val="2450"/>
                </a:lnSpc>
                <a:spcBef>
                  <a:spcPct val="0"/>
                </a:spcBef>
              </a:pPr>
              <a:r>
                <a:rPr lang="en-US" b="true" sz="17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Code B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043388" y="295142"/>
              <a:ext cx="1081273" cy="795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50"/>
                </a:lnSpc>
              </a:pPr>
              <a:r>
                <a:rPr lang="en-US" sz="1750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Mask B</a:t>
              </a:r>
            </a:p>
            <a:p>
              <a:pPr algn="l">
                <a:lnSpc>
                  <a:spcPts val="2450"/>
                </a:lnSpc>
                <a:spcBef>
                  <a:spcPct val="0"/>
                </a:spcBef>
              </a:pPr>
              <a:r>
                <a:rPr lang="en-US" b="true" sz="17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Mask 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155351" y="257042"/>
              <a:ext cx="286052" cy="737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43"/>
                </a:lnSpc>
                <a:spcBef>
                  <a:spcPct val="0"/>
                </a:spcBef>
              </a:pPr>
              <a:r>
                <a:rPr lang="en-US" b="true" sz="3316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+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914837" y="3835890"/>
              <a:ext cx="2767081" cy="382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50"/>
                </a:lnSpc>
                <a:spcBef>
                  <a:spcPct val="0"/>
                </a:spcBef>
              </a:pPr>
              <a:r>
                <a:rPr lang="en-US" b="true" sz="175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Masked HD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5400000">
              <a:off x="2005157" y="3080641"/>
              <a:ext cx="586441" cy="405953"/>
              <a:chOff x="0" y="0"/>
              <a:chExt cx="812800" cy="56264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562646"/>
              </a:xfrm>
              <a:custGeom>
                <a:avLst/>
                <a:gdLst/>
                <a:ahLst/>
                <a:cxnLst/>
                <a:rect r="r" b="b" t="t" l="l"/>
                <a:pathLst>
                  <a:path h="562646" w="812800">
                    <a:moveTo>
                      <a:pt x="812800" y="281323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359446"/>
                    </a:lnTo>
                    <a:lnTo>
                      <a:pt x="406400" y="359446"/>
                    </a:lnTo>
                    <a:lnTo>
                      <a:pt x="406400" y="562646"/>
                    </a:lnTo>
                    <a:lnTo>
                      <a:pt x="812800" y="281323"/>
                    </a:lnTo>
                    <a:close/>
                  </a:path>
                </a:pathLst>
              </a:custGeom>
              <a:solidFill>
                <a:srgbClr val="1F1F1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84150"/>
                <a:ext cx="711200" cy="1752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5400000">
              <a:off x="2005157" y="4598706"/>
              <a:ext cx="586441" cy="405953"/>
              <a:chOff x="0" y="0"/>
              <a:chExt cx="812800" cy="56264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562646"/>
              </a:xfrm>
              <a:custGeom>
                <a:avLst/>
                <a:gdLst/>
                <a:ahLst/>
                <a:cxnLst/>
                <a:rect r="r" b="b" t="t" l="l"/>
                <a:pathLst>
                  <a:path h="562646" w="812800">
                    <a:moveTo>
                      <a:pt x="812800" y="281323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359446"/>
                    </a:lnTo>
                    <a:lnTo>
                      <a:pt x="406400" y="359446"/>
                    </a:lnTo>
                    <a:lnTo>
                      <a:pt x="406400" y="562646"/>
                    </a:lnTo>
                    <a:lnTo>
                      <a:pt x="812800" y="281323"/>
                    </a:lnTo>
                    <a:close/>
                  </a:path>
                </a:pathLst>
              </a:custGeom>
              <a:solidFill>
                <a:srgbClr val="1F1F1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184150"/>
                <a:ext cx="711200" cy="1752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9639990" y="3042847"/>
            <a:ext cx="6528411" cy="1035463"/>
            <a:chOff x="0" y="0"/>
            <a:chExt cx="8704548" cy="1380617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2845264" y="870269"/>
              <a:ext cx="3628506" cy="5103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3"/>
                </a:lnSpc>
                <a:spcBef>
                  <a:spcPct val="0"/>
                </a:spcBef>
              </a:pPr>
              <a:r>
                <a:rPr lang="en-US" sz="229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|| </a:t>
              </a:r>
              <a:r>
                <a:rPr lang="en-US" sz="229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maskA ∩maskB ||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-47625"/>
              <a:ext cx="8704548" cy="5129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13"/>
                </a:lnSpc>
                <a:spcBef>
                  <a:spcPct val="0"/>
                </a:spcBef>
              </a:pPr>
              <a:r>
                <a:rPr lang="en-US" b="true" sz="229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HD</a:t>
              </a:r>
              <a:r>
                <a:rPr lang="en-US" sz="229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= || </a:t>
              </a:r>
              <a:r>
                <a:rPr lang="en-US" sz="229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(codeA ⊕ codeB) ∩ maskA ∩ maskB ||</a:t>
              </a:r>
            </a:p>
          </p:txBody>
        </p:sp>
        <p:sp>
          <p:nvSpPr>
            <p:cNvPr name="AutoShape 41" id="41"/>
            <p:cNvSpPr/>
            <p:nvPr/>
          </p:nvSpPr>
          <p:spPr>
            <a:xfrm>
              <a:off x="1034530" y="690309"/>
              <a:ext cx="7478967" cy="0"/>
            </a:xfrm>
            <a:prstGeom prst="line">
              <a:avLst/>
            </a:prstGeom>
            <a:ln cap="flat" w="301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86876" y="3919961"/>
            <a:ext cx="6478425" cy="4785786"/>
          </a:xfrm>
          <a:custGeom>
            <a:avLst/>
            <a:gdLst/>
            <a:ahLst/>
            <a:cxnLst/>
            <a:rect r="r" b="b" t="t" l="l"/>
            <a:pathLst>
              <a:path h="4785786" w="6478425">
                <a:moveTo>
                  <a:pt x="0" y="0"/>
                </a:moveTo>
                <a:lnTo>
                  <a:pt x="6478425" y="0"/>
                </a:lnTo>
                <a:lnTo>
                  <a:pt x="6478425" y="4785786"/>
                </a:lnTo>
                <a:lnTo>
                  <a:pt x="0" y="4785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720277" y="4364738"/>
          <a:ext cx="10960704" cy="5575351"/>
        </p:xfrm>
        <a:graphic>
          <a:graphicData uri="http://schemas.openxmlformats.org/presentationml/2006/ole">
            <p:oleObj imgW="13144500" imgH="77597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33010"/>
            <a:ext cx="16413535" cy="182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002" indent="-279501" lvl="1">
              <a:lnSpc>
                <a:spcPts val="3624"/>
              </a:lnSpc>
              <a:buFont typeface="Arial"/>
              <a:buChar char="•"/>
            </a:pPr>
            <a:r>
              <a:rPr lang="en-US" b="true" sz="25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Clear Separation</a:t>
            </a:r>
            <a:r>
              <a:rPr lang="en-US" sz="2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Genuine pairs are distinctly separated from all impostor classes. </a:t>
            </a:r>
          </a:p>
          <a:p>
            <a:pPr algn="l">
              <a:lnSpc>
                <a:spcPts val="3624"/>
              </a:lnSpc>
            </a:pPr>
          </a:p>
          <a:p>
            <a:pPr algn="l" marL="559002" indent="-279501" lvl="1">
              <a:lnSpc>
                <a:spcPts val="3624"/>
              </a:lnSpc>
              <a:buFont typeface="Arial"/>
              <a:buChar char="•"/>
            </a:pPr>
            <a:r>
              <a:rPr lang="en-US" b="true" sz="258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Twin Effect</a:t>
            </a:r>
            <a:r>
              <a:rPr lang="en-US" sz="2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Twin p</a:t>
            </a:r>
            <a:r>
              <a:rPr lang="en-US" sz="2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air</a:t>
            </a:r>
            <a:r>
              <a:rPr lang="en-US" sz="2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(especially same-eye) generate lower distances than unrelated pairs. </a:t>
            </a:r>
          </a:p>
          <a:p>
            <a:pPr algn="l">
              <a:lnSpc>
                <a:spcPts val="362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119599" y="923925"/>
            <a:ext cx="15139701" cy="95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5"/>
              </a:lnSpc>
              <a:spcBef>
                <a:spcPct val="0"/>
              </a:spcBef>
            </a:pPr>
            <a:r>
              <a:rPr lang="en-US" sz="56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Verification Results: Score Distributions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956250"/>
            <a:ext cx="6162277" cy="4552239"/>
          </a:xfrm>
          <a:custGeom>
            <a:avLst/>
            <a:gdLst/>
            <a:ahLst/>
            <a:cxnLst/>
            <a:rect r="r" b="b" t="t" l="l"/>
            <a:pathLst>
              <a:path h="4552239" w="6162277">
                <a:moveTo>
                  <a:pt x="0" y="0"/>
                </a:moveTo>
                <a:lnTo>
                  <a:pt x="6162277" y="0"/>
                </a:lnTo>
                <a:lnTo>
                  <a:pt x="6162277" y="4552239"/>
                </a:lnTo>
                <a:lnTo>
                  <a:pt x="0" y="4552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90977" y="4956250"/>
            <a:ext cx="6162277" cy="4552239"/>
          </a:xfrm>
          <a:custGeom>
            <a:avLst/>
            <a:gdLst/>
            <a:ahLst/>
            <a:cxnLst/>
            <a:rect r="r" b="b" t="t" l="l"/>
            <a:pathLst>
              <a:path h="4552239" w="6162277">
                <a:moveTo>
                  <a:pt x="0" y="0"/>
                </a:moveTo>
                <a:lnTo>
                  <a:pt x="6162277" y="0"/>
                </a:lnTo>
                <a:lnTo>
                  <a:pt x="6162277" y="4552239"/>
                </a:lnTo>
                <a:lnTo>
                  <a:pt x="0" y="455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13552652" y="5565430"/>
          <a:ext cx="5657850" cy="3771900"/>
        </p:xfrm>
        <a:graphic>
          <a:graphicData uri="http://schemas.openxmlformats.org/presentationml/2006/ole">
            <p:oleObj imgW="6781800" imgH="4902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4892740" y="933450"/>
            <a:ext cx="8502520" cy="166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6"/>
              </a:lnSpc>
              <a:spcBef>
                <a:spcPct val="0"/>
              </a:spcBef>
            </a:pPr>
            <a:r>
              <a:rPr lang="en-US" sz="47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Verification Performance: The Impact of Twins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23164"/>
            <a:ext cx="17406601" cy="197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660" indent="-205330" lvl="1">
              <a:lnSpc>
                <a:spcPts val="2662"/>
              </a:lnSpc>
              <a:buFont typeface="Arial"/>
              <a:buChar char="•"/>
            </a:pPr>
            <a:r>
              <a:rPr lang="en-US" b="true" sz="19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Baseline Performance</a:t>
            </a: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High accuracy against standard unrelated impostors (EER 7.55%, AUC 0.9735). </a:t>
            </a:r>
          </a:p>
          <a:p>
            <a:pPr algn="l">
              <a:lnSpc>
                <a:spcPts val="2662"/>
              </a:lnSpc>
            </a:pPr>
          </a:p>
          <a:p>
            <a:pPr algn="l" marL="410660" indent="-205330" lvl="1">
              <a:lnSpc>
                <a:spcPts val="2662"/>
              </a:lnSpc>
              <a:buFont typeface="Arial"/>
              <a:buChar char="•"/>
            </a:pPr>
            <a:r>
              <a:rPr lang="en-US" b="true" sz="19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Twin Penalty</a:t>
            </a: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Verific</a:t>
            </a: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ation</a:t>
            </a: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becomes noticeably harder when the impostor is a same-eye twin (EER jumps to 11.39%, AUC drops to 0.9425). </a:t>
            </a:r>
          </a:p>
          <a:p>
            <a:pPr algn="l">
              <a:lnSpc>
                <a:spcPts val="2662"/>
              </a:lnSpc>
            </a:pPr>
          </a:p>
          <a:p>
            <a:pPr algn="l" marL="410660" indent="-205330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ROC curve visually confirms that twin impostors shift the error trade-off, verifying the "</a:t>
            </a:r>
            <a:r>
              <a:rPr lang="en-US" b="true" sz="19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Twin Effect</a:t>
            </a: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" quantitatively. </a:t>
            </a:r>
          </a:p>
          <a:p>
            <a:pPr algn="l">
              <a:lnSpc>
                <a:spcPts val="2662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6331155" y="2496205"/>
          <a:ext cx="5657850" cy="3771900"/>
        </p:xfrm>
        <a:graphic>
          <a:graphicData uri="http://schemas.openxmlformats.org/presentationml/2006/ole">
            <p:oleObj imgW="6781800" imgH="4902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6331155" y="5189034"/>
            <a:ext cx="5671550" cy="4189726"/>
          </a:xfrm>
          <a:custGeom>
            <a:avLst/>
            <a:gdLst/>
            <a:ahLst/>
            <a:cxnLst/>
            <a:rect r="r" b="b" t="t" l="l"/>
            <a:pathLst>
              <a:path h="4189726" w="5671550">
                <a:moveTo>
                  <a:pt x="0" y="0"/>
                </a:moveTo>
                <a:lnTo>
                  <a:pt x="5671550" y="0"/>
                </a:lnTo>
                <a:lnTo>
                  <a:pt x="5671550" y="4189727"/>
                </a:lnTo>
                <a:lnTo>
                  <a:pt x="0" y="41897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82464" y="5189034"/>
            <a:ext cx="5671550" cy="4189726"/>
          </a:xfrm>
          <a:custGeom>
            <a:avLst/>
            <a:gdLst/>
            <a:ahLst/>
            <a:cxnLst/>
            <a:rect r="r" b="b" t="t" l="l"/>
            <a:pathLst>
              <a:path h="4189726" w="5671550">
                <a:moveTo>
                  <a:pt x="0" y="0"/>
                </a:moveTo>
                <a:lnTo>
                  <a:pt x="5671550" y="0"/>
                </a:lnTo>
                <a:lnTo>
                  <a:pt x="5671550" y="4189727"/>
                </a:lnTo>
                <a:lnTo>
                  <a:pt x="0" y="41897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44504" y="933450"/>
            <a:ext cx="12598992" cy="81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6"/>
              </a:lnSpc>
              <a:spcBef>
                <a:spcPct val="0"/>
              </a:spcBef>
            </a:pPr>
            <a:r>
              <a:rPr lang="en-US" sz="479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Statistical Evidence of Twin Similarity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23164"/>
            <a:ext cx="4897374" cy="59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660" indent="-205330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goal is to prove that the visual shift in twin scores is statistically robust. </a:t>
            </a:r>
          </a:p>
          <a:p>
            <a:pPr algn="l">
              <a:lnSpc>
                <a:spcPts val="2662"/>
              </a:lnSpc>
            </a:pPr>
          </a:p>
          <a:p>
            <a:pPr algn="l" marL="410660" indent="-205330" lvl="1">
              <a:lnSpc>
                <a:spcPts val="2662"/>
              </a:lnSpc>
              <a:buFont typeface="Arial"/>
              <a:buChar char="•"/>
            </a:pPr>
            <a:r>
              <a:rPr lang="en-US" b="true" sz="190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Effect Size (Cohen's d)</a:t>
            </a: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Measures </a:t>
            </a: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magnitude of the difference between distributions.</a:t>
            </a:r>
          </a:p>
          <a:p>
            <a:pPr algn="l">
              <a:lnSpc>
                <a:spcPts val="2662"/>
              </a:lnSpc>
            </a:pPr>
          </a:p>
          <a:p>
            <a:pPr algn="l" marL="410660" indent="-205330" lvl="1">
              <a:lnSpc>
                <a:spcPts val="2662"/>
              </a:lnSpc>
              <a:buFont typeface="Arial"/>
              <a:buChar char="•"/>
            </a:pPr>
            <a:r>
              <a:rPr lang="en-US" b="true" sz="1902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Key Finding 1</a:t>
            </a: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Twin pairs are consistently closer than unrelated pairs (Cohen's d = -0.8722 for same-eye). </a:t>
            </a:r>
          </a:p>
          <a:p>
            <a:pPr algn="l">
              <a:lnSpc>
                <a:spcPts val="2662"/>
              </a:lnSpc>
            </a:pPr>
          </a:p>
          <a:p>
            <a:pPr algn="l" marL="410660" indent="-205330" lvl="1">
              <a:lnSpc>
                <a:spcPts val="2662"/>
              </a:lnSpc>
              <a:buFont typeface="Arial"/>
              <a:buChar char="•"/>
            </a:pPr>
            <a:r>
              <a:rPr lang="en-US" b="true" sz="1902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Key Finding 2</a:t>
            </a: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twin effect is measurable but much smaller than the genuine-vs-unrelated separation (Cohen's d = -4.6587).</a:t>
            </a:r>
          </a:p>
          <a:p>
            <a:pPr algn="l">
              <a:lnSpc>
                <a:spcPts val="2662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3492627"/>
          <a:ext cx="9429750" cy="2514600"/>
        </p:xfrm>
        <a:graphic>
          <a:graphicData uri="http://schemas.openxmlformats.org/presentationml/2006/ole">
            <p:oleObj imgW="11315700" imgH="4394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2866914" y="3179269"/>
            <a:ext cx="3682863" cy="3141317"/>
            <a:chOff x="0" y="0"/>
            <a:chExt cx="4910484" cy="41884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10484" cy="1457045"/>
            </a:xfrm>
            <a:custGeom>
              <a:avLst/>
              <a:gdLst/>
              <a:ahLst/>
              <a:cxnLst/>
              <a:rect r="r" b="b" t="t" l="l"/>
              <a:pathLst>
                <a:path h="1457045" w="4910484">
                  <a:moveTo>
                    <a:pt x="0" y="0"/>
                  </a:moveTo>
                  <a:lnTo>
                    <a:pt x="4910484" y="0"/>
                  </a:lnTo>
                  <a:lnTo>
                    <a:pt x="4910484" y="1457045"/>
                  </a:lnTo>
                  <a:lnTo>
                    <a:pt x="0" y="14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1384416"/>
              <a:ext cx="4910484" cy="1457045"/>
            </a:xfrm>
            <a:custGeom>
              <a:avLst/>
              <a:gdLst/>
              <a:ahLst/>
              <a:cxnLst/>
              <a:rect r="r" b="b" t="t" l="l"/>
              <a:pathLst>
                <a:path h="1457045" w="4910484">
                  <a:moveTo>
                    <a:pt x="0" y="0"/>
                  </a:moveTo>
                  <a:lnTo>
                    <a:pt x="4910484" y="0"/>
                  </a:lnTo>
                  <a:lnTo>
                    <a:pt x="4910484" y="1457046"/>
                  </a:lnTo>
                  <a:lnTo>
                    <a:pt x="0" y="1457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731377"/>
              <a:ext cx="4910484" cy="1457045"/>
            </a:xfrm>
            <a:custGeom>
              <a:avLst/>
              <a:gdLst/>
              <a:ahLst/>
              <a:cxnLst/>
              <a:rect r="r" b="b" t="t" l="l"/>
              <a:pathLst>
                <a:path h="1457045" w="4910484">
                  <a:moveTo>
                    <a:pt x="0" y="0"/>
                  </a:moveTo>
                  <a:lnTo>
                    <a:pt x="4910484" y="0"/>
                  </a:lnTo>
                  <a:lnTo>
                    <a:pt x="4910484" y="1457045"/>
                  </a:lnTo>
                  <a:lnTo>
                    <a:pt x="0" y="14570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662023"/>
            <a:ext cx="11197893" cy="138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84"/>
              </a:lnSpc>
            </a:pPr>
            <a:r>
              <a:rPr lang="en-US" sz="398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Cross-Validation:</a:t>
            </a:r>
          </a:p>
          <a:p>
            <a:pPr algn="just">
              <a:lnSpc>
                <a:spcPts val="5584"/>
              </a:lnSpc>
              <a:spcBef>
                <a:spcPct val="0"/>
              </a:spcBef>
            </a:pPr>
            <a:r>
              <a:rPr lang="en-US" sz="398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LBP and Blob/LoG Descriptors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862572"/>
            <a:ext cx="13847994" cy="239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1214" indent="-185607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goal is to verify if the "Twin Effect" is merely an artifact of the Gabor-style matcher. </a:t>
            </a:r>
          </a:p>
          <a:p>
            <a:pPr algn="l">
              <a:lnSpc>
                <a:spcPts val="2407"/>
              </a:lnSpc>
            </a:pPr>
          </a:p>
          <a:p>
            <a:pPr algn="l" marL="371214" indent="-185607" lvl="1">
              <a:lnSpc>
                <a:spcPts val="2407"/>
              </a:lnSpc>
              <a:buFont typeface="Arial"/>
              <a:buChar char="•"/>
            </a:pPr>
            <a:r>
              <a:rPr lang="en-US" sz="1719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Alternative Descriptors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valuat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Lo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nary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Patt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 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</a:t>
            </a:r>
            <a:r>
              <a:rPr lang="en-US" b="true" sz="17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LBP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</a:t>
            </a:r>
            <a:r>
              <a:rPr lang="en-US" b="true" sz="171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Blob/LoG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multi-scale features. </a:t>
            </a:r>
          </a:p>
          <a:p>
            <a:pPr algn="l">
              <a:lnSpc>
                <a:spcPts val="2407"/>
              </a:lnSpc>
            </a:pPr>
          </a:p>
          <a:p>
            <a:pPr algn="l" marL="371214" indent="-185607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Consistent Trend: Across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metr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cs,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twin distances constantly sit between genuine and unrelated baselines. </a:t>
            </a:r>
          </a:p>
          <a:p>
            <a:pPr algn="l">
              <a:lnSpc>
                <a:spcPts val="2407"/>
              </a:lnSpc>
            </a:pPr>
          </a:p>
          <a:p>
            <a:pPr algn="l" marL="371214" indent="-185607" lvl="1">
              <a:lnSpc>
                <a:spcPts val="2407"/>
              </a:lnSpc>
              <a:buFont typeface="Arial"/>
              <a:buChar char="•"/>
            </a:pPr>
            <a:r>
              <a:rPr lang="en-US" sz="171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twin similarity is an intrinsic physical property of the iris texture, independent of the algorithm used.</a:t>
            </a:r>
          </a:p>
          <a:p>
            <a:pPr algn="l">
              <a:lnSpc>
                <a:spcPts val="240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919476" y="6316451"/>
            <a:ext cx="1577739" cy="323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lbp previews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90201" y="2987079"/>
            <a:ext cx="14307597" cy="5506950"/>
            <a:chOff x="0" y="0"/>
            <a:chExt cx="19076796" cy="7342600"/>
          </a:xfrm>
        </p:grpSpPr>
        <p:sp>
          <p:nvSpPr>
            <p:cNvPr name="AutoShape 3" id="3"/>
            <p:cNvSpPr/>
            <p:nvPr/>
          </p:nvSpPr>
          <p:spPr>
            <a:xfrm flipV="true">
              <a:off x="4751514" y="5020648"/>
              <a:ext cx="11287846" cy="1270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747211" y="2882363"/>
              <a:ext cx="1391074" cy="2885497"/>
            </a:xfrm>
            <a:custGeom>
              <a:avLst/>
              <a:gdLst/>
              <a:ahLst/>
              <a:cxnLst/>
              <a:rect r="r" b="b" t="t" l="l"/>
              <a:pathLst>
                <a:path h="2885497" w="1391074">
                  <a:moveTo>
                    <a:pt x="0" y="0"/>
                  </a:moveTo>
                  <a:lnTo>
                    <a:pt x="1391075" y="0"/>
                  </a:lnTo>
                  <a:lnTo>
                    <a:pt x="1391075" y="2885497"/>
                  </a:lnTo>
                  <a:lnTo>
                    <a:pt x="0" y="2885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14460" y="4085928"/>
              <a:ext cx="2404879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How it works?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-5400000">
              <a:off x="747211" y="5204314"/>
              <a:ext cx="1391074" cy="2885497"/>
            </a:xfrm>
            <a:custGeom>
              <a:avLst/>
              <a:gdLst/>
              <a:ahLst/>
              <a:cxnLst/>
              <a:rect r="r" b="b" t="t" l="l"/>
              <a:pathLst>
                <a:path h="2885497" w="1391074">
                  <a:moveTo>
                    <a:pt x="0" y="0"/>
                  </a:moveTo>
                  <a:lnTo>
                    <a:pt x="1391075" y="0"/>
                  </a:lnTo>
                  <a:lnTo>
                    <a:pt x="1391075" y="2885497"/>
                  </a:lnTo>
                  <a:lnTo>
                    <a:pt x="0" y="2885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739540" y="6407879"/>
              <a:ext cx="1406418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 i="true">
                  <a:solidFill>
                    <a:srgbClr val="000000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Metrics</a:t>
              </a:r>
            </a:p>
          </p:txBody>
        </p:sp>
        <p:sp>
          <p:nvSpPr>
            <p:cNvPr name="AutoShape 8" id="8"/>
            <p:cNvSpPr/>
            <p:nvPr/>
          </p:nvSpPr>
          <p:spPr>
            <a:xfrm flipV="true">
              <a:off x="4751499" y="2486152"/>
              <a:ext cx="11287846" cy="1270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-5400000">
              <a:off x="747211" y="360566"/>
              <a:ext cx="1391074" cy="2885497"/>
            </a:xfrm>
            <a:custGeom>
              <a:avLst/>
              <a:gdLst/>
              <a:ahLst/>
              <a:cxnLst/>
              <a:rect r="r" b="b" t="t" l="l"/>
              <a:pathLst>
                <a:path h="2885497" w="1391074">
                  <a:moveTo>
                    <a:pt x="0" y="0"/>
                  </a:moveTo>
                  <a:lnTo>
                    <a:pt x="1391075" y="0"/>
                  </a:lnTo>
                  <a:lnTo>
                    <a:pt x="1391075" y="2885497"/>
                  </a:lnTo>
                  <a:lnTo>
                    <a:pt x="0" y="2885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619518" y="1554607"/>
              <a:ext cx="1794764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What is it?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891446" y="6085897"/>
              <a:ext cx="13934807" cy="504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76"/>
                </a:lnSpc>
                <a:spcBef>
                  <a:spcPct val="0"/>
                </a:spcBef>
              </a:pPr>
              <a:r>
                <a:rPr lang="en-US" sz="234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system ranks all candidates by lowest </a:t>
              </a:r>
              <a:r>
                <a:rPr lang="en-US" b="true" sz="234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Masked Hamming Distance</a:t>
              </a:r>
              <a:r>
                <a:rPr lang="en-US" sz="234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564004" y="-38100"/>
              <a:ext cx="16512792" cy="2143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76"/>
                </a:lnSpc>
                <a:spcBef>
                  <a:spcPct val="0"/>
                </a:spcBef>
              </a:pPr>
              <a:r>
                <a:rPr lang="en-US" sz="234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 closed-set identification, each probe is compared against </a:t>
              </a:r>
              <a:r>
                <a:rPr lang="en-US" b="true" sz="234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all</a:t>
              </a:r>
              <a:r>
                <a:rPr lang="en-US" sz="234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gallery templates.</a:t>
              </a:r>
            </a:p>
            <a:p>
              <a:pPr algn="ctr">
                <a:lnSpc>
                  <a:spcPts val="3276"/>
                </a:lnSpc>
                <a:spcBef>
                  <a:spcPct val="0"/>
                </a:spcBef>
              </a:pPr>
            </a:p>
            <a:p>
              <a:pPr algn="ctr">
                <a:lnSpc>
                  <a:spcPts val="3276"/>
                </a:lnSpc>
                <a:spcBef>
                  <a:spcPct val="0"/>
                </a:spcBef>
              </a:pPr>
              <a:r>
                <a:rPr lang="en-US" sz="2340" u="sng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correct identity is expected to be in the gallery.</a:t>
              </a:r>
            </a:p>
            <a:p>
              <a:pPr algn="ctr">
                <a:lnSpc>
                  <a:spcPts val="3276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048967" y="3482647"/>
              <a:ext cx="13542866" cy="502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81"/>
                </a:lnSpc>
                <a:spcBef>
                  <a:spcPct val="0"/>
                </a:spcBef>
              </a:pPr>
              <a:r>
                <a:rPr lang="en-US" b="true" sz="234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Probe iris</a:t>
              </a:r>
              <a:r>
                <a:rPr lang="en-US" sz="234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→ Compare with gallery → </a:t>
              </a:r>
              <a:r>
                <a:rPr lang="en-US" b="true" sz="2343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Ranked list</a:t>
              </a:r>
              <a:r>
                <a:rPr lang="en-US" sz="234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→ Correct identity rank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655275" y="6837648"/>
              <a:ext cx="14330250" cy="504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76"/>
                </a:lnSpc>
                <a:spcBef>
                  <a:spcPct val="0"/>
                </a:spcBef>
              </a:pPr>
              <a:r>
                <a:rPr lang="en-US" sz="234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Evaluated via Rank-1 Accuracy and Cumulative </a:t>
              </a:r>
              <a:r>
                <a:rPr lang="en-US" sz="234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Matc</a:t>
              </a:r>
              <a:r>
                <a:rPr lang="en-US" sz="234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h Curv</a:t>
              </a:r>
              <a:r>
                <a:rPr lang="en-US" sz="234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e</a:t>
              </a:r>
              <a:r>
                <a:rPr lang="en-US" sz="2340" i="true">
                  <a:solidFill>
                    <a:srgbClr val="000000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 (CMC).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756380" y="895350"/>
            <a:ext cx="10775240" cy="115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1"/>
              </a:lnSpc>
              <a:spcBef>
                <a:spcPct val="0"/>
              </a:spcBef>
            </a:pPr>
            <a:r>
              <a:rPr lang="en-US" sz="673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Closed-set identification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4482529" y="4550205"/>
            <a:ext cx="2028366" cy="8599237"/>
            <a:chOff x="0" y="0"/>
            <a:chExt cx="534220" cy="22648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4220" cy="2264820"/>
            </a:xfrm>
            <a:custGeom>
              <a:avLst/>
              <a:gdLst/>
              <a:ahLst/>
              <a:cxnLst/>
              <a:rect r="r" b="b" t="t" l="l"/>
              <a:pathLst>
                <a:path h="2264820" w="534220">
                  <a:moveTo>
                    <a:pt x="0" y="0"/>
                  </a:moveTo>
                  <a:lnTo>
                    <a:pt x="534220" y="0"/>
                  </a:lnTo>
                  <a:lnTo>
                    <a:pt x="534220" y="2264820"/>
                  </a:lnTo>
                  <a:lnTo>
                    <a:pt x="0" y="2264820"/>
                  </a:lnTo>
                  <a:close/>
                </a:path>
              </a:pathLst>
            </a:custGeom>
            <a:gradFill rotWithShape="true">
              <a:gsLst>
                <a:gs pos="0">
                  <a:srgbClr val="EEEEEE">
                    <a:alpha val="100000"/>
                  </a:srgbClr>
                </a:gs>
                <a:gs pos="100000">
                  <a:srgbClr val="EEEEEE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34220" cy="2302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3212615" y="2209912"/>
          <a:ext cx="7586157" cy="4274588"/>
        </p:xfrm>
        <a:graphic>
          <a:graphicData uri="http://schemas.openxmlformats.org/presentationml/2006/ole">
            <p:oleObj imgW="9105900" imgH="579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01396" y="546113"/>
            <a:ext cx="9885209" cy="81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6"/>
              </a:lnSpc>
              <a:spcBef>
                <a:spcPct val="0"/>
              </a:spcBef>
            </a:pPr>
            <a:r>
              <a:rPr lang="en-US" b="true" sz="479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and gallery construction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5691" y="6756270"/>
            <a:ext cx="15876618" cy="250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1660" indent="-255830" lvl="1">
              <a:lnSpc>
                <a:spcPts val="33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</a:t>
            </a:r>
            <a:r>
              <a:rPr lang="en-US" b="true" sz="23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ality-driven Enrollment</a:t>
            </a:r>
            <a:r>
              <a:rPr lang="en-US" sz="23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For each of the 313 identities, we enrolled only the single template with the highest valid-bit ratio.</a:t>
            </a:r>
          </a:p>
          <a:p>
            <a:pPr algn="just">
              <a:lnSpc>
                <a:spcPts val="3317"/>
              </a:lnSpc>
              <a:spcBef>
                <a:spcPct val="0"/>
              </a:spcBef>
            </a:pPr>
          </a:p>
          <a:p>
            <a:pPr algn="just" marL="511660" indent="-255830" lvl="1">
              <a:lnSpc>
                <a:spcPts val="33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6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Real-world Simulation</a:t>
            </a:r>
            <a:r>
              <a:rPr lang="en-US" sz="23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This mirrors operational biometric systems, which reject poor-quality samples during initial enrollment to ensure a reliable reference database.</a:t>
            </a:r>
          </a:p>
          <a:p>
            <a:pPr algn="just">
              <a:lnSpc>
                <a:spcPts val="3317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9278812" y="2930674"/>
          <a:ext cx="3771900" cy="5029200"/>
        </p:xfrm>
        <a:graphic>
          <a:graphicData uri="http://schemas.openxmlformats.org/presentationml/2006/ole">
            <p:oleObj imgW="4775200" imgH="6032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431354" y="1042988"/>
            <a:ext cx="15425291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Fast Does the System Fi</a:t>
            </a:r>
            <a:r>
              <a:rPr lang="en-US" sz="4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nd the Right Iris?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534774"/>
            <a:ext cx="7736890" cy="6941899"/>
            <a:chOff x="0" y="0"/>
            <a:chExt cx="10315853" cy="925586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315853" cy="7838521"/>
              <a:chOff x="0" y="0"/>
              <a:chExt cx="1198647" cy="91079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98647" cy="910794"/>
              </a:xfrm>
              <a:custGeom>
                <a:avLst/>
                <a:gdLst/>
                <a:ahLst/>
                <a:cxnLst/>
                <a:rect r="r" b="b" t="t" l="l"/>
                <a:pathLst>
                  <a:path h="910794" w="1198647">
                    <a:moveTo>
                      <a:pt x="0" y="0"/>
                    </a:moveTo>
                    <a:lnTo>
                      <a:pt x="1198647" y="0"/>
                    </a:lnTo>
                    <a:lnTo>
                      <a:pt x="1198647" y="910794"/>
                    </a:lnTo>
                    <a:lnTo>
                      <a:pt x="0" y="910794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656" t="0" r="-656" b="0"/>
                </a:stretch>
              </a:blip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8089461"/>
              <a:ext cx="10315853" cy="1166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43"/>
                </a:lnSpc>
                <a:spcBef>
                  <a:spcPct val="0"/>
                </a:spcBef>
              </a:pPr>
              <a:r>
                <a:rPr lang="en-US" sz="1745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curve shows the probability that the correct identity appears within the first k candidates.</a:t>
              </a:r>
            </a:p>
            <a:p>
              <a:pPr algn="l">
                <a:lnSpc>
                  <a:spcPts val="244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34482" y="7754525"/>
            <a:ext cx="6819509" cy="132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9"/>
              </a:lnSpc>
              <a:spcBef>
                <a:spcPct val="0"/>
              </a:spcBef>
            </a:pPr>
            <a:r>
              <a:rPr lang="en-US" sz="25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achieves strong closed-set identification performance, ranking the correct iris first in </a:t>
            </a:r>
            <a:r>
              <a:rPr lang="en-US" b="true" sz="253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83.42% </a:t>
            </a:r>
            <a:r>
              <a:rPr lang="en-US" sz="253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 attempts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934733"/>
            <a:ext cx="7787466" cy="5836623"/>
          </a:xfrm>
          <a:custGeom>
            <a:avLst/>
            <a:gdLst/>
            <a:ahLst/>
            <a:cxnLst/>
            <a:rect r="r" b="b" t="t" l="l"/>
            <a:pathLst>
              <a:path h="5836623" w="7787466">
                <a:moveTo>
                  <a:pt x="0" y="0"/>
                </a:moveTo>
                <a:lnTo>
                  <a:pt x="7787466" y="0"/>
                </a:lnTo>
                <a:lnTo>
                  <a:pt x="7787466" y="5836623"/>
                </a:lnTo>
                <a:lnTo>
                  <a:pt x="0" y="58366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" r="0" b="-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16166" y="2363720"/>
            <a:ext cx="10023438" cy="692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Metric Definition</a:t>
            </a:r>
          </a:p>
          <a:p>
            <a:pPr algn="l">
              <a:lnSpc>
                <a:spcPts val="3500"/>
              </a:lnSpc>
            </a:pP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Calculated as: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</a:t>
            </a:r>
            <a:r>
              <a:rPr lang="en-US" sz="2700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Margin </a:t>
            </a:r>
            <a:r>
              <a:rPr lang="en-US" sz="27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= Best Impostor Score - True     </a:t>
            </a:r>
          </a:p>
          <a:p>
            <a:pPr algn="l">
              <a:lnSpc>
                <a:spcPts val="3779"/>
              </a:lnSpc>
            </a:pPr>
            <a:r>
              <a:rPr lang="en-US" sz="27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                                     Identity Score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Quantifies decision reliability by measuring the gap between the true match and the closest competitor.</a:t>
            </a:r>
          </a:p>
          <a:p>
            <a:pPr algn="l">
              <a:lnSpc>
                <a:spcPts val="3500"/>
              </a:lnSpc>
            </a:pP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Positive Margin (&gt; 0)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Rank-1 Correct: The true identity is cleanly separated from the closest impostor.</a:t>
            </a:r>
          </a:p>
          <a:p>
            <a:pPr algn="l">
              <a:lnSpc>
                <a:spcPts val="3500"/>
              </a:lnSpc>
            </a:pPr>
          </a:p>
          <a:p>
            <a:pPr algn="l" marL="539751" indent="-269876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Negative Margin (&lt; 0)</a:t>
            </a:r>
          </a:p>
          <a:p>
            <a:pPr algn="l" marL="1079502" indent="-359834" lvl="2">
              <a:lnSpc>
                <a:spcPts val="3500"/>
              </a:lnSpc>
              <a:buFont typeface="Arial"/>
              <a:buChar char="⚬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Rank-1 Error: An impostor successfully bypassed the true identity.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95448" y="617654"/>
            <a:ext cx="17497104" cy="93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2"/>
              </a:lnSpc>
              <a:spcBef>
                <a:spcPct val="0"/>
              </a:spcBef>
            </a:pPr>
            <a:r>
              <a:rPr lang="en-US" sz="55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Identification Margin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988075" y="5762006"/>
          <a:ext cx="3771900" cy="4400550"/>
        </p:xfrm>
        <a:graphic>
          <a:graphicData uri="http://schemas.openxmlformats.org/presentationml/2006/ole">
            <p:oleObj imgW="46482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9398245" y="4309808"/>
            <a:ext cx="7861055" cy="1794042"/>
            <a:chOff x="0" y="0"/>
            <a:chExt cx="10481407" cy="239205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481407" cy="2392056"/>
              <a:chOff x="0" y="0"/>
              <a:chExt cx="1832991" cy="41846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832991" cy="418465"/>
              </a:xfrm>
              <a:custGeom>
                <a:avLst/>
                <a:gdLst/>
                <a:ahLst/>
                <a:cxnLst/>
                <a:rect r="r" b="b" t="t" l="l"/>
                <a:pathLst>
                  <a:path h="418465" w="1832991">
                    <a:moveTo>
                      <a:pt x="1832991" y="41160"/>
                    </a:moveTo>
                    <a:lnTo>
                      <a:pt x="1832991" y="377305"/>
                    </a:lnTo>
                    <a:cubicBezTo>
                      <a:pt x="1832991" y="388222"/>
                      <a:pt x="1828655" y="398691"/>
                      <a:pt x="1820936" y="406410"/>
                    </a:cubicBezTo>
                    <a:cubicBezTo>
                      <a:pt x="1813217" y="414129"/>
                      <a:pt x="1802748" y="418465"/>
                      <a:pt x="1791831" y="418465"/>
                    </a:cubicBezTo>
                    <a:lnTo>
                      <a:pt x="41160" y="418465"/>
                    </a:lnTo>
                    <a:cubicBezTo>
                      <a:pt x="30243" y="418465"/>
                      <a:pt x="19774" y="414129"/>
                      <a:pt x="12055" y="406410"/>
                    </a:cubicBezTo>
                    <a:cubicBezTo>
                      <a:pt x="4336" y="398691"/>
                      <a:pt x="0" y="388222"/>
                      <a:pt x="0" y="377305"/>
                    </a:cubicBezTo>
                    <a:lnTo>
                      <a:pt x="0" y="41160"/>
                    </a:lnTo>
                    <a:cubicBezTo>
                      <a:pt x="0" y="30243"/>
                      <a:pt x="4336" y="19774"/>
                      <a:pt x="12055" y="12055"/>
                    </a:cubicBezTo>
                    <a:cubicBezTo>
                      <a:pt x="19774" y="4336"/>
                      <a:pt x="30243" y="0"/>
                      <a:pt x="41160" y="0"/>
                    </a:cubicBezTo>
                    <a:lnTo>
                      <a:pt x="1791831" y="0"/>
                    </a:lnTo>
                    <a:cubicBezTo>
                      <a:pt x="1802748" y="0"/>
                      <a:pt x="1813217" y="4336"/>
                      <a:pt x="1820936" y="12055"/>
                    </a:cubicBezTo>
                    <a:cubicBezTo>
                      <a:pt x="1828655" y="19774"/>
                      <a:pt x="1832991" y="30243"/>
                      <a:pt x="1832991" y="41160"/>
                    </a:cubicBezTo>
                    <a:close/>
                  </a:path>
                </a:pathLst>
              </a:custGeom>
              <a:solidFill>
                <a:srgbClr val="F5DBF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832991" cy="4660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03804" y="400025"/>
              <a:ext cx="9073798" cy="1553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2"/>
                </a:lnSpc>
              </a:pPr>
              <a:r>
                <a:rPr lang="en-US" sz="225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Verdict</a:t>
              </a:r>
              <a:r>
                <a:rPr lang="en-US" sz="225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:</a:t>
              </a:r>
            </a:p>
            <a:p>
              <a:pPr algn="ctr">
                <a:lnSpc>
                  <a:spcPts val="3162"/>
                </a:lnSpc>
                <a:spcBef>
                  <a:spcPct val="0"/>
                </a:spcBef>
              </a:pPr>
              <a:r>
                <a:rPr lang="en-US" sz="225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Twins increase local ambiguity, but they </a:t>
              </a:r>
              <a:r>
                <a:rPr lang="en-US" b="true" sz="225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are NOT</a:t>
              </a:r>
              <a:r>
                <a:rPr lang="en-US" sz="225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the dominant cause of Rank-1 errors.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5448" y="923925"/>
            <a:ext cx="17497104" cy="93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2"/>
              </a:lnSpc>
              <a:spcBef>
                <a:spcPct val="0"/>
              </a:spcBef>
            </a:pPr>
            <a:r>
              <a:rPr lang="en-US" sz="55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Twin-specific Identification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8067" y="2072787"/>
            <a:ext cx="3250635" cy="35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5"/>
              </a:lnSpc>
              <a:spcBef>
                <a:spcPct val="0"/>
              </a:spcBef>
            </a:pPr>
            <a:r>
              <a:rPr lang="en-US" b="true" sz="21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Hypothesis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8067" y="2543655"/>
            <a:ext cx="13586269" cy="33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Verification results showed that twin irises produce slightly lower Hamming Distances than unrelated subjects.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435" y="3358073"/>
            <a:ext cx="7271224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raises the key question: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i="true" b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Will genetic similarity break the identification pipeline? </a:t>
            </a:r>
          </a:p>
          <a:p>
            <a:pPr algn="l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Are twins the primary drivers of Rank-1 errors?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8067" y="5258341"/>
            <a:ext cx="2617383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b="true" sz="1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Reality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77523" y="6433201"/>
            <a:ext cx="7702499" cy="78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sz="22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2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onsidering all the cases where the twin exists in the gallery, the closest twin is on median </a:t>
            </a:r>
            <a:r>
              <a:rPr lang="en-US" b="true" sz="225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rank</a:t>
            </a:r>
            <a:r>
              <a:rPr lang="en-US" sz="22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225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009650"/>
            <a:ext cx="261738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4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24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23526" y="3332334"/>
            <a:ext cx="7868365" cy="4688190"/>
          </a:xfrm>
          <a:custGeom>
            <a:avLst/>
            <a:gdLst/>
            <a:ahLst/>
            <a:cxnLst/>
            <a:rect r="r" b="b" t="t" l="l"/>
            <a:pathLst>
              <a:path h="4688190" w="7868365">
                <a:moveTo>
                  <a:pt x="0" y="0"/>
                </a:moveTo>
                <a:lnTo>
                  <a:pt x="7868364" y="0"/>
                </a:lnTo>
                <a:lnTo>
                  <a:pt x="7868364" y="4688190"/>
                </a:lnTo>
                <a:lnTo>
                  <a:pt x="0" y="46881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40" r="0" b="-8348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196110" y="3158632"/>
          <a:ext cx="7543800" cy="3771900"/>
        </p:xfrm>
        <a:graphic>
          <a:graphicData uri="http://schemas.openxmlformats.org/presentationml/2006/ole">
            <p:oleObj imgW="9042400" imgH="52705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450455" y="1004888"/>
            <a:ext cx="1338709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</a:t>
            </a:r>
            <a:r>
              <a:rPr lang="en-US" b="true" sz="6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uality-based Failure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92448" y="8495029"/>
            <a:ext cx="6330520" cy="76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Rank-1 errors tend to have a lower valid-bit ratio than correctly identified probes.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7918" y="8495029"/>
            <a:ext cx="6668491" cy="72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Errors are more associated with reduced usable iris texture than with simple illumination problems.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177841"/>
            <a:ext cx="7566391" cy="2219617"/>
          </a:xfrm>
          <a:custGeom>
            <a:avLst/>
            <a:gdLst/>
            <a:ahLst/>
            <a:cxnLst/>
            <a:rect r="r" b="b" t="t" l="l"/>
            <a:pathLst>
              <a:path h="2219617" w="7566391">
                <a:moveTo>
                  <a:pt x="0" y="0"/>
                </a:moveTo>
                <a:lnTo>
                  <a:pt x="7566391" y="0"/>
                </a:lnTo>
                <a:lnTo>
                  <a:pt x="7566391" y="2219617"/>
                </a:lnTo>
                <a:lnTo>
                  <a:pt x="0" y="2219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1" t="-120" r="0" b="-1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397458"/>
            <a:ext cx="7566391" cy="2219617"/>
          </a:xfrm>
          <a:custGeom>
            <a:avLst/>
            <a:gdLst/>
            <a:ahLst/>
            <a:cxnLst/>
            <a:rect r="r" b="b" t="t" l="l"/>
            <a:pathLst>
              <a:path h="2219617" w="7566391">
                <a:moveTo>
                  <a:pt x="0" y="0"/>
                </a:moveTo>
                <a:lnTo>
                  <a:pt x="7566391" y="0"/>
                </a:lnTo>
                <a:lnTo>
                  <a:pt x="7566391" y="2219617"/>
                </a:lnTo>
                <a:lnTo>
                  <a:pt x="0" y="2219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11" t="-120" r="0" b="-12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82355" y="4177841"/>
            <a:ext cx="7868239" cy="2299466"/>
          </a:xfrm>
          <a:custGeom>
            <a:avLst/>
            <a:gdLst/>
            <a:ahLst/>
            <a:cxnLst/>
            <a:rect r="r" b="b" t="t" l="l"/>
            <a:pathLst>
              <a:path h="2299466" w="7868239">
                <a:moveTo>
                  <a:pt x="0" y="0"/>
                </a:moveTo>
                <a:lnTo>
                  <a:pt x="7868239" y="0"/>
                </a:lnTo>
                <a:lnTo>
                  <a:pt x="7868239" y="2299466"/>
                </a:lnTo>
                <a:lnTo>
                  <a:pt x="0" y="22994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29" t="-120" r="0" b="-12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63259" y="6477307"/>
            <a:ext cx="7868239" cy="2139768"/>
          </a:xfrm>
          <a:custGeom>
            <a:avLst/>
            <a:gdLst/>
            <a:ahLst/>
            <a:cxnLst/>
            <a:rect r="r" b="b" t="t" l="l"/>
            <a:pathLst>
              <a:path h="2139768" w="7868239">
                <a:moveTo>
                  <a:pt x="0" y="0"/>
                </a:moveTo>
                <a:lnTo>
                  <a:pt x="7868239" y="0"/>
                </a:lnTo>
                <a:lnTo>
                  <a:pt x="7868239" y="2139768"/>
                </a:lnTo>
                <a:lnTo>
                  <a:pt x="0" y="21397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52" t="-8159" r="0" b="-12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440213"/>
            <a:ext cx="4059999" cy="43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  <a:spcBef>
                <a:spcPct val="0"/>
              </a:spcBef>
            </a:pPr>
            <a:r>
              <a:rPr lang="en-US" sz="2586">
                <a:solidFill>
                  <a:srgbClr val="47A8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Successes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3259" y="3440213"/>
            <a:ext cx="4059999" cy="439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1"/>
              </a:lnSpc>
              <a:spcBef>
                <a:spcPct val="0"/>
              </a:spcBef>
            </a:pPr>
            <a:r>
              <a:rPr lang="en-US" sz="2586">
                <a:solidFill>
                  <a:srgbClr val="8F282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Failures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254211"/>
            <a:ext cx="18288000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Template Q</a:t>
            </a:r>
            <a:r>
              <a:rPr lang="en-US" b="true" sz="6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uality Affects Identification Performance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6266" y="3118093"/>
            <a:ext cx="2999879" cy="1892600"/>
          </a:xfrm>
          <a:custGeom>
            <a:avLst/>
            <a:gdLst/>
            <a:ahLst/>
            <a:cxnLst/>
            <a:rect r="r" b="b" t="t" l="l"/>
            <a:pathLst>
              <a:path h="1892600" w="2999879">
                <a:moveTo>
                  <a:pt x="0" y="0"/>
                </a:moveTo>
                <a:lnTo>
                  <a:pt x="2999878" y="0"/>
                </a:lnTo>
                <a:lnTo>
                  <a:pt x="2999878" y="1892600"/>
                </a:lnTo>
                <a:lnTo>
                  <a:pt x="0" y="1892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00" r="0" b="-340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61700" y="3118093"/>
            <a:ext cx="2846907" cy="1892600"/>
            <a:chOff x="0" y="0"/>
            <a:chExt cx="3795876" cy="2523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95876" cy="841156"/>
            </a:xfrm>
            <a:custGeom>
              <a:avLst/>
              <a:gdLst/>
              <a:ahLst/>
              <a:cxnLst/>
              <a:rect r="r" b="b" t="t" l="l"/>
              <a:pathLst>
                <a:path h="841156" w="3795876">
                  <a:moveTo>
                    <a:pt x="0" y="0"/>
                  </a:moveTo>
                  <a:lnTo>
                    <a:pt x="3795876" y="0"/>
                  </a:lnTo>
                  <a:lnTo>
                    <a:pt x="3795876" y="841156"/>
                  </a:lnTo>
                  <a:lnTo>
                    <a:pt x="0" y="841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059" r="0" b="-5059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841156"/>
              <a:ext cx="3795876" cy="841156"/>
            </a:xfrm>
            <a:custGeom>
              <a:avLst/>
              <a:gdLst/>
              <a:ahLst/>
              <a:cxnLst/>
              <a:rect r="r" b="b" t="t" l="l"/>
              <a:pathLst>
                <a:path h="841156" w="3795876">
                  <a:moveTo>
                    <a:pt x="0" y="0"/>
                  </a:moveTo>
                  <a:lnTo>
                    <a:pt x="3795876" y="0"/>
                  </a:lnTo>
                  <a:lnTo>
                    <a:pt x="3795876" y="841155"/>
                  </a:lnTo>
                  <a:lnTo>
                    <a:pt x="0" y="8411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059" r="0" b="-5059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1682311"/>
              <a:ext cx="3795876" cy="841156"/>
            </a:xfrm>
            <a:custGeom>
              <a:avLst/>
              <a:gdLst/>
              <a:ahLst/>
              <a:cxnLst/>
              <a:rect r="r" b="b" t="t" l="l"/>
              <a:pathLst>
                <a:path h="841156" w="3795876">
                  <a:moveTo>
                    <a:pt x="0" y="0"/>
                  </a:moveTo>
                  <a:lnTo>
                    <a:pt x="3795876" y="0"/>
                  </a:lnTo>
                  <a:lnTo>
                    <a:pt x="3795876" y="841156"/>
                  </a:lnTo>
                  <a:lnTo>
                    <a:pt x="0" y="841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059" r="0" b="-505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772909" y="1791835"/>
            <a:ext cx="411501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Preprocessing Bottlenecks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5448" y="286961"/>
            <a:ext cx="17497104" cy="93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2"/>
              </a:lnSpc>
              <a:spcBef>
                <a:spcPct val="0"/>
              </a:spcBef>
            </a:pPr>
            <a:r>
              <a:rPr lang="en-US" sz="550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8407" y="5326278"/>
            <a:ext cx="4875597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Segm</a:t>
            </a: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entation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Daugman-style procedure is a simplified implementation. 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Imperfect iris boundaries, eyelid occlusions, or reflections may persist.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14281" y="2837680"/>
            <a:ext cx="4525566" cy="422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</a:t>
            </a: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thmic Approach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system utilizes handcrafted Gabor-style features rather than commercial state-of-the-art recognition algorithms.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 Limits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current protocol covers verification and closed-set identification but does not implement open-set identification scenarios.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998903" y="1791835"/>
            <a:ext cx="235632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Scope</a:t>
            </a:r>
          </a:p>
        </p:txBody>
      </p:sp>
      <p:sp>
        <p:nvSpPr>
          <p:cNvPr name="AutoShape 12" id="12"/>
          <p:cNvSpPr/>
          <p:nvPr/>
        </p:nvSpPr>
        <p:spPr>
          <a:xfrm flipH="true">
            <a:off x="11918918" y="1848985"/>
            <a:ext cx="0" cy="5489211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047355" y="5326278"/>
            <a:ext cx="4875597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Conservativ</a:t>
            </a: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Masking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v3 mask prioritizes reliability ov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 raw coverage, significantly reducing the available iris texture to ~23.7% of the strip.</a:t>
            </a:r>
          </a:p>
        </p:txBody>
      </p:sp>
      <p:sp>
        <p:nvSpPr>
          <p:cNvPr name="AutoShape 14" id="14"/>
          <p:cNvSpPr/>
          <p:nvPr/>
        </p:nvSpPr>
        <p:spPr>
          <a:xfrm flipH="true">
            <a:off x="1028700" y="7342959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632769" y="8085274"/>
            <a:ext cx="235632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Statistical Validity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10869" y="7681096"/>
            <a:ext cx="1234436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</a:t>
            </a: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 Dependency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Pairwise biometric comparisons are not fully independent (th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same image appears in multiple pairs), which may render statistical p-values overly optimistic.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Specificity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Results are dependent on the labels, image quality distribution, and sample balance present in the CASIA-Iris-Twins subset.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40546"/>
            <a:ext cx="553029" cy="1027588"/>
          </a:xfrm>
          <a:custGeom>
            <a:avLst/>
            <a:gdLst/>
            <a:ahLst/>
            <a:cxnLst/>
            <a:rect r="r" b="b" t="t" l="l"/>
            <a:pathLst>
              <a:path h="1027588" w="553029">
                <a:moveTo>
                  <a:pt x="0" y="0"/>
                </a:moveTo>
                <a:lnTo>
                  <a:pt x="553029" y="0"/>
                </a:lnTo>
                <a:lnTo>
                  <a:pt x="553029" y="1027588"/>
                </a:lnTo>
                <a:lnTo>
                  <a:pt x="0" y="1027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5244607"/>
            <a:ext cx="883726" cy="1027588"/>
          </a:xfrm>
          <a:custGeom>
            <a:avLst/>
            <a:gdLst/>
            <a:ahLst/>
            <a:cxnLst/>
            <a:rect r="r" b="b" t="t" l="l"/>
            <a:pathLst>
              <a:path h="1027588" w="883726">
                <a:moveTo>
                  <a:pt x="0" y="0"/>
                </a:moveTo>
                <a:lnTo>
                  <a:pt x="883726" y="0"/>
                </a:lnTo>
                <a:lnTo>
                  <a:pt x="883726" y="1027588"/>
                </a:lnTo>
                <a:lnTo>
                  <a:pt x="0" y="1027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900837"/>
            <a:ext cx="901811" cy="1064370"/>
          </a:xfrm>
          <a:custGeom>
            <a:avLst/>
            <a:gdLst/>
            <a:ahLst/>
            <a:cxnLst/>
            <a:rect r="r" b="b" t="t" l="l"/>
            <a:pathLst>
              <a:path h="1064370" w="901811">
                <a:moveTo>
                  <a:pt x="0" y="0"/>
                </a:moveTo>
                <a:lnTo>
                  <a:pt x="901811" y="0"/>
                </a:lnTo>
                <a:lnTo>
                  <a:pt x="901811" y="1064370"/>
                </a:lnTo>
                <a:lnTo>
                  <a:pt x="0" y="1064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75041" y="895350"/>
            <a:ext cx="6137919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75"/>
              </a:lnSpc>
            </a:pPr>
            <a:r>
              <a:rPr lang="en-US" sz="6767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</a:t>
            </a:r>
            <a:r>
              <a:rPr lang="en-US" b="true" sz="676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09650"/>
            <a:ext cx="26173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26366" y="2833781"/>
            <a:ext cx="4678208" cy="57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9"/>
              </a:lnSpc>
              <a:spcBef>
                <a:spcPct val="0"/>
              </a:spcBef>
            </a:pPr>
            <a:r>
              <a:rPr lang="en-US" b="true" sz="3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3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obust Preprocessing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91715" y="5141151"/>
            <a:ext cx="4678208" cy="116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9"/>
              </a:lnSpc>
              <a:spcBef>
                <a:spcPct val="0"/>
              </a:spcBef>
            </a:pPr>
            <a:r>
              <a:rPr lang="en-US" b="true" sz="3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</a:t>
            </a:r>
            <a:r>
              <a:rPr lang="en-US" b="true" sz="3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Protocols &amp; Zygosity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1715" y="7785352"/>
            <a:ext cx="4233615" cy="116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9"/>
              </a:lnSpc>
              <a:spcBef>
                <a:spcPct val="0"/>
              </a:spcBef>
            </a:pPr>
            <a:r>
              <a:rPr lang="en-US" b="true" sz="3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Learning</a:t>
            </a:r>
            <a:r>
              <a:rPr lang="en-US" b="true" sz="33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Pipeline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06901" y="2457057"/>
            <a:ext cx="9852399" cy="135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682" indent="-234341" lvl="1">
              <a:lnSpc>
                <a:spcPts val="3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Replace cust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 segmentation with advanced models. </a:t>
            </a:r>
          </a:p>
          <a:p>
            <a:pPr algn="l" marL="468682" indent="-234341" lvl="1">
              <a:lnSpc>
                <a:spcPts val="3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Focus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Better handling of eyelids, eyelashes, and off-axis acquisitions. </a:t>
            </a:r>
          </a:p>
          <a:p>
            <a:pPr algn="l" marL="468682" indent="-234341" lvl="1">
              <a:lnSpc>
                <a:spcPts val="3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Increase valid bit ratio and template reliability. </a:t>
            </a:r>
          </a:p>
          <a:p>
            <a:pPr algn="l">
              <a:lnSpc>
                <a:spcPts val="177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406901" y="4680119"/>
            <a:ext cx="9852399" cy="2118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682" indent="-234341" lvl="1">
              <a:lnSpc>
                <a:spcPts val="3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Zygosity Classification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Distinguish between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monozygotic, dizygotic, and unrelated subjects. </a:t>
            </a:r>
          </a:p>
          <a:p>
            <a:pPr algn="l" marL="468682" indent="-234341" lvl="1">
              <a:lnSpc>
                <a:spcPts val="3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Multimodal Approach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Fuse iris texture with periocular, face, or voice traits. </a:t>
            </a:r>
          </a:p>
          <a:p>
            <a:pPr algn="l" marL="468682" indent="-234341" lvl="1">
              <a:lnSpc>
                <a:spcPts val="3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Explainabl</a:t>
            </a: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AI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Use attention maps to interpret classification results.</a:t>
            </a:r>
          </a:p>
          <a:p>
            <a:pPr algn="l">
              <a:lnSpc>
                <a:spcPts val="177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406901" y="7520834"/>
            <a:ext cx="9852399" cy="173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682" indent="-234341" lvl="1">
              <a:lnSpc>
                <a:spcPts val="3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Siamese Networks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Replace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handcrafted Gabor codes with learned embeddings. </a:t>
            </a:r>
          </a:p>
          <a:p>
            <a:pPr algn="l" marL="468682" indent="-234341" lvl="1">
              <a:lnSpc>
                <a:spcPts val="3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trategy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Use triplet/contrastive loss for relation-aware classification. </a:t>
            </a:r>
          </a:p>
          <a:p>
            <a:pPr algn="l" marL="468682" indent="-234341" lvl="1">
              <a:lnSpc>
                <a:spcPts val="30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Emb</a:t>
            </a:r>
            <a:r>
              <a:rPr lang="en-US" b="true" sz="217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eddings</a:t>
            </a:r>
            <a:r>
              <a:rPr lang="en-US" sz="21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Push genuine pairs together and impostor pairs apart. </a:t>
            </a:r>
          </a:p>
          <a:p>
            <a:pPr algn="l">
              <a:lnSpc>
                <a:spcPts val="1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989441"/>
            <a:ext cx="10117059" cy="194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39"/>
              </a:lnSpc>
              <a:spcBef>
                <a:spcPct val="0"/>
              </a:spcBef>
            </a:pPr>
            <a:r>
              <a:rPr lang="en-US" sz="11314">
                <a:solidFill>
                  <a:srgbClr val="C9036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781628"/>
            <a:ext cx="3714111" cy="126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4"/>
              </a:lnSpc>
              <a:spcBef>
                <a:spcPct val="0"/>
              </a:spcBef>
            </a:pPr>
            <a:r>
              <a:rPr lang="en-US" sz="2446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Sarah Oualli 2254756</a:t>
            </a:r>
          </a:p>
          <a:p>
            <a:pPr algn="l" marL="0" indent="0" lvl="0">
              <a:lnSpc>
                <a:spcPts val="3424"/>
              </a:lnSpc>
              <a:spcBef>
                <a:spcPct val="0"/>
              </a:spcBef>
            </a:pPr>
            <a:r>
              <a:rPr lang="en-US" sz="2446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Gaia Diodati 2279030</a:t>
            </a:r>
          </a:p>
          <a:p>
            <a:pPr algn="l" marL="0" indent="0" lvl="0">
              <a:lnSpc>
                <a:spcPts val="3424"/>
              </a:lnSpc>
              <a:spcBef>
                <a:spcPct val="0"/>
              </a:spcBef>
            </a:pPr>
            <a:r>
              <a:rPr lang="en-US" sz="2446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Michele Pogu 2254529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406914"/>
            <a:ext cx="9823177" cy="833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4"/>
              </a:lnSpc>
              <a:spcBef>
                <a:spcPct val="0"/>
              </a:spcBef>
            </a:pPr>
            <a:r>
              <a:rPr lang="en-US" b="true" sz="2446" i="true" strike="noStrike" u="none">
                <a:solidFill>
                  <a:srgbClr val="C9036C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Repository:</a:t>
            </a:r>
            <a:r>
              <a:rPr lang="en-US" b="true" sz="2446" i="true" strike="noStrike" u="none">
                <a:solidFill>
                  <a:srgbClr val="A5A5A4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</a:t>
            </a:r>
            <a:r>
              <a:rPr lang="en-US" b="true" sz="2446" strike="noStrike" u="none">
                <a:solidFill>
                  <a:srgbClr val="A5A5A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https://github.com/samsungalaxys3neo/Casia_Iris_Twins.git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674734" y="-804148"/>
            <a:ext cx="7060492" cy="8229600"/>
          </a:xfrm>
          <a:custGeom>
            <a:avLst/>
            <a:gdLst/>
            <a:ahLst/>
            <a:cxnLst/>
            <a:rect r="r" b="b" t="t" l="l"/>
            <a:pathLst>
              <a:path h="8229600" w="7060492">
                <a:moveTo>
                  <a:pt x="0" y="0"/>
                </a:moveTo>
                <a:lnTo>
                  <a:pt x="7060493" y="0"/>
                </a:lnTo>
                <a:lnTo>
                  <a:pt x="70604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1000"/>
            </a:blip>
            <a:stretch>
              <a:fillRect l="-5948" t="0" r="-5948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DAHODyA8CR4</dc:identifier>
  <dcterms:modified xsi:type="dcterms:W3CDTF">2011-08-01T06:04:30Z</dcterms:modified>
  <cp:revision>1</cp:revision>
  <dc:title>Teal and Black Modern Facial Recognition Technology Presentation</dc:title>
</cp:coreProperties>
</file>